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USD/KZT</c:v>
                </c:pt>
              </c:strCache>
            </c:strRef>
          </c:tx>
          <c:spPr>
            <a:solidFill>
              <a:srgbClr val="4A3AA7"/>
            </a:solidFill>
            <a:ln w="25400" cap="flat">
              <a:solidFill>
                <a:srgbClr val="4A3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Sheet1!$A$2:$A$108</c:f>
              <c:multiLvlStrCache>
                <c:ptCount val="107"/>
                <c:lvl>
                  <c:pt idx="0">
                    <c:v>2000</c:v>
                  </c:pt>
                  <c:pt idx="1">
                    <c:v>2000</c:v>
                  </c:pt>
                  <c:pt idx="2">
                    <c:v>2000</c:v>
                  </c:pt>
                  <c:pt idx="3">
                    <c:v>2000</c:v>
                  </c:pt>
                  <c:pt idx="4">
                    <c:v>2001</c:v>
                  </c:pt>
                  <c:pt idx="5">
                    <c:v>2001</c:v>
                  </c:pt>
                  <c:pt idx="6">
                    <c:v>2001</c:v>
                  </c:pt>
                  <c:pt idx="7">
                    <c:v>2001</c:v>
                  </c:pt>
                  <c:pt idx="8">
                    <c:v>2002</c:v>
                  </c:pt>
                  <c:pt idx="9">
                    <c:v>2002</c:v>
                  </c:pt>
                  <c:pt idx="10">
                    <c:v>2002</c:v>
                  </c:pt>
                  <c:pt idx="11">
                    <c:v>2002</c:v>
                  </c:pt>
                  <c:pt idx="12">
                    <c:v>2003</c:v>
                  </c:pt>
                  <c:pt idx="13">
                    <c:v>2003</c:v>
                  </c:pt>
                  <c:pt idx="14">
                    <c:v>2003</c:v>
                  </c:pt>
                  <c:pt idx="15">
                    <c:v>2003</c:v>
                  </c:pt>
                  <c:pt idx="16">
                    <c:v>2004</c:v>
                  </c:pt>
                  <c:pt idx="17">
                    <c:v>2004</c:v>
                  </c:pt>
                  <c:pt idx="18">
                    <c:v>2004</c:v>
                  </c:pt>
                  <c:pt idx="19">
                    <c:v>2004</c:v>
                  </c:pt>
                  <c:pt idx="20">
                    <c:v>2005</c:v>
                  </c:pt>
                  <c:pt idx="21">
                    <c:v>2005</c:v>
                  </c:pt>
                  <c:pt idx="22">
                    <c:v>2005</c:v>
                  </c:pt>
                  <c:pt idx="23">
                    <c:v>2005</c:v>
                  </c:pt>
                  <c:pt idx="24">
                    <c:v>2006</c:v>
                  </c:pt>
                  <c:pt idx="25">
                    <c:v>2006</c:v>
                  </c:pt>
                  <c:pt idx="26">
                    <c:v>2006</c:v>
                  </c:pt>
                  <c:pt idx="27">
                    <c:v>2006</c:v>
                  </c:pt>
                  <c:pt idx="28">
                    <c:v>2007</c:v>
                  </c:pt>
                  <c:pt idx="29">
                    <c:v>2007</c:v>
                  </c:pt>
                  <c:pt idx="30">
                    <c:v>2007</c:v>
                  </c:pt>
                  <c:pt idx="31">
                    <c:v>2007</c:v>
                  </c:pt>
                  <c:pt idx="32">
                    <c:v>2008</c:v>
                  </c:pt>
                  <c:pt idx="33">
                    <c:v>2008</c:v>
                  </c:pt>
                  <c:pt idx="34">
                    <c:v>2008</c:v>
                  </c:pt>
                  <c:pt idx="35">
                    <c:v>2008</c:v>
                  </c:pt>
                  <c:pt idx="36">
                    <c:v>2009</c:v>
                  </c:pt>
                  <c:pt idx="37">
                    <c:v>2009</c:v>
                  </c:pt>
                  <c:pt idx="38">
                    <c:v>2009</c:v>
                  </c:pt>
                  <c:pt idx="39">
                    <c:v>2009</c:v>
                  </c:pt>
                  <c:pt idx="40">
                    <c:v>2010</c:v>
                  </c:pt>
                  <c:pt idx="41">
                    <c:v>2010</c:v>
                  </c:pt>
                  <c:pt idx="42">
                    <c:v>2010</c:v>
                  </c:pt>
                  <c:pt idx="43">
                    <c:v>2010</c:v>
                  </c:pt>
                  <c:pt idx="44">
                    <c:v>2011</c:v>
                  </c:pt>
                  <c:pt idx="45">
                    <c:v>2011</c:v>
                  </c:pt>
                  <c:pt idx="46">
                    <c:v>2011</c:v>
                  </c:pt>
                  <c:pt idx="47">
                    <c:v>2011</c:v>
                  </c:pt>
                  <c:pt idx="48">
                    <c:v>2012</c:v>
                  </c:pt>
                  <c:pt idx="49">
                    <c:v>2012</c:v>
                  </c:pt>
                  <c:pt idx="50">
                    <c:v>2012</c:v>
                  </c:pt>
                  <c:pt idx="51">
                    <c:v>2012</c:v>
                  </c:pt>
                  <c:pt idx="52">
                    <c:v>2013</c:v>
                  </c:pt>
                  <c:pt idx="53">
                    <c:v>2013</c:v>
                  </c:pt>
                  <c:pt idx="54">
                    <c:v>2013</c:v>
                  </c:pt>
                  <c:pt idx="55">
                    <c:v>2013</c:v>
                  </c:pt>
                  <c:pt idx="56">
                    <c:v>2014</c:v>
                  </c:pt>
                  <c:pt idx="57">
                    <c:v>2014</c:v>
                  </c:pt>
                  <c:pt idx="58">
                    <c:v>2014</c:v>
                  </c:pt>
                  <c:pt idx="59">
                    <c:v>2014</c:v>
                  </c:pt>
                  <c:pt idx="60">
                    <c:v>2015</c:v>
                  </c:pt>
                  <c:pt idx="61">
                    <c:v>2015</c:v>
                  </c:pt>
                  <c:pt idx="62">
                    <c:v>2015</c:v>
                  </c:pt>
                  <c:pt idx="63">
                    <c:v>2015</c:v>
                  </c:pt>
                  <c:pt idx="64">
                    <c:v>2016</c:v>
                  </c:pt>
                  <c:pt idx="65">
                    <c:v>2016</c:v>
                  </c:pt>
                  <c:pt idx="66">
                    <c:v>2016</c:v>
                  </c:pt>
                  <c:pt idx="67">
                    <c:v>2016</c:v>
                  </c:pt>
                  <c:pt idx="68">
                    <c:v>2017</c:v>
                  </c:pt>
                  <c:pt idx="69">
                    <c:v>2017</c:v>
                  </c:pt>
                  <c:pt idx="70">
                    <c:v>2017</c:v>
                  </c:pt>
                  <c:pt idx="71">
                    <c:v>2017</c:v>
                  </c:pt>
                  <c:pt idx="72">
                    <c:v>2018</c:v>
                  </c:pt>
                  <c:pt idx="73">
                    <c:v>2018</c:v>
                  </c:pt>
                  <c:pt idx="74">
                    <c:v>2018</c:v>
                  </c:pt>
                  <c:pt idx="75">
                    <c:v>2018</c:v>
                  </c:pt>
                  <c:pt idx="76">
                    <c:v>2019</c:v>
                  </c:pt>
                  <c:pt idx="77">
                    <c:v>2019</c:v>
                  </c:pt>
                  <c:pt idx="78">
                    <c:v>2019</c:v>
                  </c:pt>
                  <c:pt idx="79">
                    <c:v>2019</c:v>
                  </c:pt>
                  <c:pt idx="80">
                    <c:v>2020</c:v>
                  </c:pt>
                  <c:pt idx="81">
                    <c:v>2020</c:v>
                  </c:pt>
                  <c:pt idx="82">
                    <c:v>2020</c:v>
                  </c:pt>
                  <c:pt idx="83">
                    <c:v>2020</c:v>
                  </c:pt>
                  <c:pt idx="84">
                    <c:v>2021</c:v>
                  </c:pt>
                  <c:pt idx="85">
                    <c:v>2021</c:v>
                  </c:pt>
                  <c:pt idx="86">
                    <c:v>2021</c:v>
                  </c:pt>
                  <c:pt idx="87">
                    <c:v>2021</c:v>
                  </c:pt>
                  <c:pt idx="88">
                    <c:v>2022</c:v>
                  </c:pt>
                  <c:pt idx="89">
                    <c:v>2022</c:v>
                  </c:pt>
                  <c:pt idx="90">
                    <c:v>2022</c:v>
                  </c:pt>
                  <c:pt idx="91">
                    <c:v>2022</c:v>
                  </c:pt>
                  <c:pt idx="92">
                    <c:v>2023</c:v>
                  </c:pt>
                  <c:pt idx="93">
                    <c:v>2023</c:v>
                  </c:pt>
                  <c:pt idx="94">
                    <c:v>2023</c:v>
                  </c:pt>
                  <c:pt idx="95">
                    <c:v>2023</c:v>
                  </c:pt>
                  <c:pt idx="96">
                    <c:v>2024</c:v>
                  </c:pt>
                  <c:pt idx="97">
                    <c:v>2024</c:v>
                  </c:pt>
                  <c:pt idx="98">
                    <c:v>2024</c:v>
                  </c:pt>
                  <c:pt idx="99">
                    <c:v>2024</c:v>
                  </c:pt>
                  <c:pt idx="100">
                    <c:v>2025</c:v>
                  </c:pt>
                  <c:pt idx="101">
                    <c:v>2025</c:v>
                  </c:pt>
                  <c:pt idx="102">
                    <c:v>2025</c:v>
                  </c:pt>
                  <c:pt idx="103">
                    <c:v>2025</c:v>
                  </c:pt>
                  <c:pt idx="104">
                    <c:v>2026</c:v>
                  </c:pt>
                  <c:pt idx="105">
                    <c:v>2026</c:v>
                  </c:pt>
                  <c:pt idx="106">
                    <c:v>2026</c:v>
                  </c:pt>
                </c:lvl>
              </c:multiLvlStrCache>
            </c:multiLvlStrRef>
          </c:cat>
          <c:val>
            <c:numRef>
              <c:f>Sheet1!$B$2:$B$108</c:f>
              <c:numCache>
                <c:formatCode>General</c:formatCode>
                <c:ptCount val="107"/>
                <c:pt idx="0">
                  <c:v>140.15</c:v>
                </c:pt>
                <c:pt idx="1">
                  <c:v>142.35</c:v>
                </c:pt>
                <c:pt idx="2">
                  <c:v>142.65</c:v>
                </c:pt>
                <c:pt idx="3">
                  <c:v>144.1</c:v>
                </c:pt>
                <c:pt idx="4">
                  <c:v>145.3</c:v>
                </c:pt>
                <c:pt idx="5">
                  <c:v>146.1</c:v>
                </c:pt>
                <c:pt idx="6">
                  <c:v>147.15</c:v>
                </c:pt>
                <c:pt idx="7">
                  <c:v>148.55</c:v>
                </c:pt>
                <c:pt idx="8">
                  <c:v>151.9</c:v>
                </c:pt>
                <c:pt idx="9">
                  <c:v>152.9</c:v>
                </c:pt>
                <c:pt idx="10">
                  <c:v>154.15</c:v>
                </c:pt>
                <c:pt idx="11">
                  <c:v>154.2</c:v>
                </c:pt>
                <c:pt idx="12">
                  <c:v>152.6</c:v>
                </c:pt>
                <c:pt idx="13">
                  <c:v>150.8</c:v>
                </c:pt>
                <c:pt idx="14">
                  <c:v>147.47</c:v>
                </c:pt>
                <c:pt idx="15">
                  <c:v>146.63</c:v>
                </c:pt>
                <c:pt idx="16">
                  <c:v>139.15</c:v>
                </c:pt>
                <c:pt idx="17">
                  <c:v>137.34</c:v>
                </c:pt>
                <c:pt idx="18">
                  <c:v>136.61</c:v>
                </c:pt>
                <c:pt idx="19">
                  <c:v>130.02</c:v>
                </c:pt>
                <c:pt idx="20">
                  <c:v>130.15</c:v>
                </c:pt>
                <c:pt idx="21">
                  <c:v>132.49</c:v>
                </c:pt>
                <c:pt idx="22">
                  <c:v>135.25</c:v>
                </c:pt>
                <c:pt idx="23">
                  <c:v>134.07</c:v>
                </c:pt>
                <c:pt idx="24">
                  <c:v>130.3</c:v>
                </c:pt>
                <c:pt idx="25">
                  <c:v>121.48</c:v>
                </c:pt>
                <c:pt idx="26">
                  <c:v>125.24</c:v>
                </c:pt>
                <c:pt idx="27">
                  <c:v>127.98</c:v>
                </c:pt>
                <c:pt idx="28">
                  <c:v>123.71</c:v>
                </c:pt>
                <c:pt idx="29">
                  <c:v>121.62</c:v>
                </c:pt>
                <c:pt idx="30">
                  <c:v>126.25</c:v>
                </c:pt>
                <c:pt idx="31">
                  <c:v>120.87</c:v>
                </c:pt>
                <c:pt idx="32">
                  <c:v>120.87</c:v>
                </c:pt>
                <c:pt idx="33">
                  <c:v>120.57</c:v>
                </c:pt>
                <c:pt idx="34">
                  <c:v>119.54</c:v>
                </c:pt>
                <c:pt idx="35">
                  <c:v>120.35</c:v>
                </c:pt>
                <c:pt idx="36">
                  <c:v>150.43</c:v>
                </c:pt>
                <c:pt idx="37">
                  <c:v>150.44</c:v>
                </c:pt>
                <c:pt idx="38">
                  <c:v>150.8</c:v>
                </c:pt>
                <c:pt idx="39">
                  <c:v>148.72</c:v>
                </c:pt>
                <c:pt idx="40">
                  <c:v>147.32</c:v>
                </c:pt>
                <c:pt idx="41">
                  <c:v>146.5</c:v>
                </c:pt>
                <c:pt idx="42">
                  <c:v>147.14</c:v>
                </c:pt>
                <c:pt idx="43">
                  <c:v>147.49</c:v>
                </c:pt>
                <c:pt idx="44">
                  <c:v>146</c:v>
                </c:pt>
                <c:pt idx="45">
                  <c:v>145.34</c:v>
                </c:pt>
                <c:pt idx="46">
                  <c:v>146.41</c:v>
                </c:pt>
                <c:pt idx="47">
                  <c:v>147.72</c:v>
                </c:pt>
                <c:pt idx="48">
                  <c:v>147.65</c:v>
                </c:pt>
                <c:pt idx="49">
                  <c:v>147.91</c:v>
                </c:pt>
                <c:pt idx="50">
                  <c:v>149.41</c:v>
                </c:pt>
                <c:pt idx="51">
                  <c:v>150.52</c:v>
                </c:pt>
                <c:pt idx="52">
                  <c:v>150.45</c:v>
                </c:pt>
                <c:pt idx="53">
                  <c:v>151.08</c:v>
                </c:pt>
                <c:pt idx="54">
                  <c:v>152.81</c:v>
                </c:pt>
                <c:pt idx="55">
                  <c:v>153.68</c:v>
                </c:pt>
                <c:pt idx="56">
                  <c:v>184.06</c:v>
                </c:pt>
                <c:pt idx="57">
                  <c:v>183.5</c:v>
                </c:pt>
                <c:pt idx="58">
                  <c:v>182</c:v>
                </c:pt>
                <c:pt idx="59">
                  <c:v>180.87</c:v>
                </c:pt>
                <c:pt idx="60">
                  <c:v>185.05</c:v>
                </c:pt>
                <c:pt idx="61">
                  <c:v>185.95</c:v>
                </c:pt>
                <c:pt idx="62">
                  <c:v>237.66</c:v>
                </c:pt>
                <c:pt idx="63">
                  <c:v>307.2</c:v>
                </c:pt>
                <c:pt idx="64">
                  <c:v>349.82</c:v>
                </c:pt>
                <c:pt idx="65">
                  <c:v>336.73</c:v>
                </c:pt>
                <c:pt idx="66">
                  <c:v>338.98</c:v>
                </c:pt>
                <c:pt idx="67">
                  <c:v>340.3</c:v>
                </c:pt>
                <c:pt idx="68">
                  <c:v>312.47</c:v>
                </c:pt>
                <c:pt idx="69">
                  <c:v>311.23</c:v>
                </c:pt>
                <c:pt idx="70">
                  <c:v>334.7</c:v>
                </c:pt>
                <c:pt idx="71">
                  <c:v>331.61</c:v>
                </c:pt>
                <c:pt idx="72">
                  <c:v>318.68</c:v>
                </c:pt>
                <c:pt idx="73">
                  <c:v>330.67</c:v>
                </c:pt>
                <c:pt idx="74">
                  <c:v>363.43</c:v>
                </c:pt>
                <c:pt idx="75">
                  <c:v>371.28</c:v>
                </c:pt>
                <c:pt idx="76">
                  <c:v>377.26</c:v>
                </c:pt>
                <c:pt idx="77">
                  <c:v>381.37</c:v>
                </c:pt>
                <c:pt idx="78">
                  <c:v>387.46</c:v>
                </c:pt>
                <c:pt idx="79">
                  <c:v>386.35</c:v>
                </c:pt>
                <c:pt idx="80">
                  <c:v>381.1</c:v>
                </c:pt>
                <c:pt idx="81">
                  <c:v>411.54</c:v>
                </c:pt>
                <c:pt idx="82">
                  <c:v>420.11</c:v>
                </c:pt>
                <c:pt idx="83">
                  <c:v>423.87</c:v>
                </c:pt>
                <c:pt idx="84">
                  <c:v>417.02</c:v>
                </c:pt>
                <c:pt idx="85">
                  <c:v>427.9</c:v>
                </c:pt>
                <c:pt idx="86">
                  <c:v>425.74</c:v>
                </c:pt>
                <c:pt idx="87">
                  <c:v>433.74</c:v>
                </c:pt>
                <c:pt idx="88">
                  <c:v>467.09</c:v>
                </c:pt>
                <c:pt idx="89">
                  <c:v>427.39</c:v>
                </c:pt>
                <c:pt idx="90">
                  <c:v>468.1</c:v>
                </c:pt>
                <c:pt idx="91">
                  <c:v>468.43</c:v>
                </c:pt>
                <c:pt idx="92">
                  <c:v>449.14</c:v>
                </c:pt>
                <c:pt idx="93">
                  <c:v>447.08</c:v>
                </c:pt>
                <c:pt idx="94">
                  <c:v>461.44</c:v>
                </c:pt>
                <c:pt idx="95">
                  <c:v>459.06</c:v>
                </c:pt>
                <c:pt idx="96">
                  <c:v>451.31</c:v>
                </c:pt>
                <c:pt idx="97">
                  <c:v>444.79</c:v>
                </c:pt>
                <c:pt idx="98">
                  <c:v>481.63</c:v>
                </c:pt>
                <c:pt idx="99">
                  <c:v>511.22</c:v>
                </c:pt>
                <c:pt idx="100">
                  <c:v>501.49</c:v>
                </c:pt>
                <c:pt idx="101">
                  <c:v>510.81</c:v>
                </c:pt>
                <c:pt idx="102">
                  <c:v>538.54</c:v>
                </c:pt>
                <c:pt idx="103">
                  <c:v>512.53</c:v>
                </c:pt>
                <c:pt idx="104">
                  <c:v>497.56</c:v>
                </c:pt>
                <c:pt idx="105">
                  <c:v>485.95</c:v>
                </c:pt>
                <c:pt idx="106">
                  <c:v>464.77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F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 тенге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Sheet1!$A$2:$A$108</c:f>
              <c:multiLvlStrCache>
                <c:ptCount val="107"/>
                <c:lvl>
                  <c:pt idx="0">
                    <c:v>2000</c:v>
                  </c:pt>
                  <c:pt idx="1">
                    <c:v>2000</c:v>
                  </c:pt>
                  <c:pt idx="2">
                    <c:v>2000</c:v>
                  </c:pt>
                  <c:pt idx="3">
                    <c:v>2000</c:v>
                  </c:pt>
                  <c:pt idx="4">
                    <c:v>2001</c:v>
                  </c:pt>
                  <c:pt idx="5">
                    <c:v>2001</c:v>
                  </c:pt>
                  <c:pt idx="6">
                    <c:v>2001</c:v>
                  </c:pt>
                  <c:pt idx="7">
                    <c:v>2001</c:v>
                  </c:pt>
                  <c:pt idx="8">
                    <c:v>2002</c:v>
                  </c:pt>
                  <c:pt idx="9">
                    <c:v>2002</c:v>
                  </c:pt>
                  <c:pt idx="10">
                    <c:v>2002</c:v>
                  </c:pt>
                  <c:pt idx="11">
                    <c:v>2002</c:v>
                  </c:pt>
                  <c:pt idx="12">
                    <c:v>2003</c:v>
                  </c:pt>
                  <c:pt idx="13">
                    <c:v>2003</c:v>
                  </c:pt>
                  <c:pt idx="14">
                    <c:v>2003</c:v>
                  </c:pt>
                  <c:pt idx="15">
                    <c:v>2003</c:v>
                  </c:pt>
                  <c:pt idx="16">
                    <c:v>2004</c:v>
                  </c:pt>
                  <c:pt idx="17">
                    <c:v>2004</c:v>
                  </c:pt>
                  <c:pt idx="18">
                    <c:v>2004</c:v>
                  </c:pt>
                  <c:pt idx="19">
                    <c:v>2004</c:v>
                  </c:pt>
                  <c:pt idx="20">
                    <c:v>2005</c:v>
                  </c:pt>
                  <c:pt idx="21">
                    <c:v>2005</c:v>
                  </c:pt>
                  <c:pt idx="22">
                    <c:v>2005</c:v>
                  </c:pt>
                  <c:pt idx="23">
                    <c:v>2005</c:v>
                  </c:pt>
                  <c:pt idx="24">
                    <c:v>2006</c:v>
                  </c:pt>
                  <c:pt idx="25">
                    <c:v>2006</c:v>
                  </c:pt>
                  <c:pt idx="26">
                    <c:v>2006</c:v>
                  </c:pt>
                  <c:pt idx="27">
                    <c:v>2006</c:v>
                  </c:pt>
                  <c:pt idx="28">
                    <c:v>2007</c:v>
                  </c:pt>
                  <c:pt idx="29">
                    <c:v>2007</c:v>
                  </c:pt>
                  <c:pt idx="30">
                    <c:v>2007</c:v>
                  </c:pt>
                  <c:pt idx="31">
                    <c:v>2007</c:v>
                  </c:pt>
                  <c:pt idx="32">
                    <c:v>2008</c:v>
                  </c:pt>
                  <c:pt idx="33">
                    <c:v>2008</c:v>
                  </c:pt>
                  <c:pt idx="34">
                    <c:v>2008</c:v>
                  </c:pt>
                  <c:pt idx="35">
                    <c:v>2008</c:v>
                  </c:pt>
                  <c:pt idx="36">
                    <c:v>2009</c:v>
                  </c:pt>
                  <c:pt idx="37">
                    <c:v>2009</c:v>
                  </c:pt>
                  <c:pt idx="38">
                    <c:v>2009</c:v>
                  </c:pt>
                  <c:pt idx="39">
                    <c:v>2009</c:v>
                  </c:pt>
                  <c:pt idx="40">
                    <c:v>2010</c:v>
                  </c:pt>
                  <c:pt idx="41">
                    <c:v>2010</c:v>
                  </c:pt>
                  <c:pt idx="42">
                    <c:v>2010</c:v>
                  </c:pt>
                  <c:pt idx="43">
                    <c:v>2010</c:v>
                  </c:pt>
                  <c:pt idx="44">
                    <c:v>2011</c:v>
                  </c:pt>
                  <c:pt idx="45">
                    <c:v>2011</c:v>
                  </c:pt>
                  <c:pt idx="46">
                    <c:v>2011</c:v>
                  </c:pt>
                  <c:pt idx="47">
                    <c:v>2011</c:v>
                  </c:pt>
                  <c:pt idx="48">
                    <c:v>2012</c:v>
                  </c:pt>
                  <c:pt idx="49">
                    <c:v>2012</c:v>
                  </c:pt>
                  <c:pt idx="50">
                    <c:v>2012</c:v>
                  </c:pt>
                  <c:pt idx="51">
                    <c:v>2012</c:v>
                  </c:pt>
                  <c:pt idx="52">
                    <c:v>2013</c:v>
                  </c:pt>
                  <c:pt idx="53">
                    <c:v>2013</c:v>
                  </c:pt>
                  <c:pt idx="54">
                    <c:v>2013</c:v>
                  </c:pt>
                  <c:pt idx="55">
                    <c:v>2013</c:v>
                  </c:pt>
                  <c:pt idx="56">
                    <c:v>2014</c:v>
                  </c:pt>
                  <c:pt idx="57">
                    <c:v>2014</c:v>
                  </c:pt>
                  <c:pt idx="58">
                    <c:v>2014</c:v>
                  </c:pt>
                  <c:pt idx="59">
                    <c:v>2014</c:v>
                  </c:pt>
                  <c:pt idx="60">
                    <c:v>2015</c:v>
                  </c:pt>
                  <c:pt idx="61">
                    <c:v>2015</c:v>
                  </c:pt>
                  <c:pt idx="62">
                    <c:v>2015</c:v>
                  </c:pt>
                  <c:pt idx="63">
                    <c:v>2015</c:v>
                  </c:pt>
                  <c:pt idx="64">
                    <c:v>2016</c:v>
                  </c:pt>
                  <c:pt idx="65">
                    <c:v>2016</c:v>
                  </c:pt>
                  <c:pt idx="66">
                    <c:v>2016</c:v>
                  </c:pt>
                  <c:pt idx="67">
                    <c:v>2016</c:v>
                  </c:pt>
                  <c:pt idx="68">
                    <c:v>2017</c:v>
                  </c:pt>
                  <c:pt idx="69">
                    <c:v>2017</c:v>
                  </c:pt>
                  <c:pt idx="70">
                    <c:v>2017</c:v>
                  </c:pt>
                  <c:pt idx="71">
                    <c:v>2017</c:v>
                  </c:pt>
                  <c:pt idx="72">
                    <c:v>2018</c:v>
                  </c:pt>
                  <c:pt idx="73">
                    <c:v>2018</c:v>
                  </c:pt>
                  <c:pt idx="74">
                    <c:v>2018</c:v>
                  </c:pt>
                  <c:pt idx="75">
                    <c:v>2018</c:v>
                  </c:pt>
                  <c:pt idx="76">
                    <c:v>2019</c:v>
                  </c:pt>
                  <c:pt idx="77">
                    <c:v>2019</c:v>
                  </c:pt>
                  <c:pt idx="78">
                    <c:v>2019</c:v>
                  </c:pt>
                  <c:pt idx="79">
                    <c:v>2019</c:v>
                  </c:pt>
                  <c:pt idx="80">
                    <c:v>2020</c:v>
                  </c:pt>
                  <c:pt idx="81">
                    <c:v>2020</c:v>
                  </c:pt>
                  <c:pt idx="82">
                    <c:v>2020</c:v>
                  </c:pt>
                  <c:pt idx="83">
                    <c:v>2020</c:v>
                  </c:pt>
                  <c:pt idx="84">
                    <c:v>2021</c:v>
                  </c:pt>
                  <c:pt idx="85">
                    <c:v>2021</c:v>
                  </c:pt>
                  <c:pt idx="86">
                    <c:v>2021</c:v>
                  </c:pt>
                  <c:pt idx="87">
                    <c:v>2021</c:v>
                  </c:pt>
                  <c:pt idx="88">
                    <c:v>2022</c:v>
                  </c:pt>
                  <c:pt idx="89">
                    <c:v>2022</c:v>
                  </c:pt>
                  <c:pt idx="90">
                    <c:v>2022</c:v>
                  </c:pt>
                  <c:pt idx="91">
                    <c:v>2022</c:v>
                  </c:pt>
                  <c:pt idx="92">
                    <c:v>2023</c:v>
                  </c:pt>
                  <c:pt idx="93">
                    <c:v>2023</c:v>
                  </c:pt>
                  <c:pt idx="94">
                    <c:v>2023</c:v>
                  </c:pt>
                  <c:pt idx="95">
                    <c:v>2023</c:v>
                  </c:pt>
                  <c:pt idx="96">
                    <c:v>2024</c:v>
                  </c:pt>
                  <c:pt idx="97">
                    <c:v>2024</c:v>
                  </c:pt>
                  <c:pt idx="98">
                    <c:v>2024</c:v>
                  </c:pt>
                  <c:pt idx="99">
                    <c:v>2024</c:v>
                  </c:pt>
                  <c:pt idx="100">
                    <c:v>2025</c:v>
                  </c:pt>
                  <c:pt idx="101">
                    <c:v>2025</c:v>
                  </c:pt>
                  <c:pt idx="102">
                    <c:v>2025</c:v>
                  </c:pt>
                  <c:pt idx="103">
                    <c:v>2025</c:v>
                  </c:pt>
                  <c:pt idx="104">
                    <c:v>2026</c:v>
                  </c:pt>
                  <c:pt idx="105">
                    <c:v>2026</c:v>
                  </c:pt>
                  <c:pt idx="106">
                    <c:v>2026</c:v>
                  </c:pt>
                </c:lvl>
              </c:multiLvlStrCache>
            </c:multiLvlStrRef>
          </c:cat>
          <c:val>
            <c:numRef>
              <c:f>Sheet1!$B$2:$B$108</c:f>
              <c:numCache>
                <c:formatCode>General</c:formatCode>
                <c:ptCount val="107"/>
                <c:pt idx="0">
                  <c:v>16.7</c:v>
                </c:pt>
                <c:pt idx="1">
                  <c:v>20</c:v>
                </c:pt>
                <c:pt idx="2">
                  <c:v>18</c:v>
                </c:pt>
                <c:pt idx="3">
                  <c:v>15.9</c:v>
                </c:pt>
                <c:pt idx="4">
                  <c:v>14.7</c:v>
                </c:pt>
                <c:pt idx="5">
                  <c:v>14.7</c:v>
                </c:pt>
                <c:pt idx="6">
                  <c:v>14.4</c:v>
                </c:pt>
                <c:pt idx="7">
                  <c:v>13.6</c:v>
                </c:pt>
                <c:pt idx="8">
                  <c:v>12.5</c:v>
                </c:pt>
                <c:pt idx="9">
                  <c:v>11.3</c:v>
                </c:pt>
                <c:pt idx="10">
                  <c:v>10.2</c:v>
                </c:pt>
                <c:pt idx="11">
                  <c:v>12</c:v>
                </c:pt>
                <c:pt idx="12">
                  <c:v>11.3</c:v>
                </c:pt>
                <c:pt idx="13">
                  <c:v>11.2</c:v>
                </c:pt>
                <c:pt idx="14">
                  <c:v>9.9</c:v>
                </c:pt>
                <c:pt idx="15">
                  <c:v>10</c:v>
                </c:pt>
                <c:pt idx="16">
                  <c:v>9.3</c:v>
                </c:pt>
                <c:pt idx="17">
                  <c:v>9.6</c:v>
                </c:pt>
                <c:pt idx="18">
                  <c:v>9.1</c:v>
                </c:pt>
                <c:pt idx="19">
                  <c:v>9.2</c:v>
                </c:pt>
                <c:pt idx="20">
                  <c:v>9.6</c:v>
                </c:pt>
                <c:pt idx="21">
                  <c:v>9.3</c:v>
                </c:pt>
                <c:pt idx="22">
                  <c:v>9.6</c:v>
                </c:pt>
                <c:pt idx="23">
                  <c:v>9.1</c:v>
                </c:pt>
                <c:pt idx="24">
                  <c:v>8.9</c:v>
                </c:pt>
                <c:pt idx="25">
                  <c:v>9.9</c:v>
                </c:pt>
                <c:pt idx="26">
                  <c:v>9.6</c:v>
                </c:pt>
                <c:pt idx="27">
                  <c:v>9.9</c:v>
                </c:pt>
                <c:pt idx="28">
                  <c:v>9.5</c:v>
                </c:pt>
                <c:pt idx="29">
                  <c:v>9.8</c:v>
                </c:pt>
                <c:pt idx="30">
                  <c:v>10.2</c:v>
                </c:pt>
                <c:pt idx="31">
                  <c:v>10.9</c:v>
                </c:pt>
                <c:pt idx="32">
                  <c:v>11.7</c:v>
                </c:pt>
                <c:pt idx="33">
                  <c:v>11.6</c:v>
                </c:pt>
                <c:pt idx="34">
                  <c:v>7.4</c:v>
                </c:pt>
                <c:pt idx="35">
                  <c:v>11.6</c:v>
                </c:pt>
                <c:pt idx="36">
                  <c:v>11.9</c:v>
                </c:pt>
                <c:pt idx="37">
                  <c:v>11.7</c:v>
                </c:pt>
                <c:pt idx="38">
                  <c:v>2.8</c:v>
                </c:pt>
                <c:pt idx="39">
                  <c:v>11.1</c:v>
                </c:pt>
                <c:pt idx="40">
                  <c:v>10.9</c:v>
                </c:pt>
                <c:pt idx="41">
                  <c:v>10</c:v>
                </c:pt>
                <c:pt idx="42">
                  <c:v>9.8</c:v>
                </c:pt>
                <c:pt idx="43">
                  <c:v>9.8</c:v>
                </c:pt>
                <c:pt idx="44">
                  <c:v>9.1</c:v>
                </c:pt>
                <c:pt idx="45">
                  <c:v>9.3</c:v>
                </c:pt>
                <c:pt idx="46">
                  <c:v>8.3</c:v>
                </c:pt>
                <c:pt idx="47">
                  <c:v>8.6</c:v>
                </c:pt>
                <c:pt idx="48">
                  <c:v>8.4</c:v>
                </c:pt>
                <c:pt idx="49">
                  <c:v>8.6</c:v>
                </c:pt>
                <c:pt idx="50">
                  <c:v>7.8</c:v>
                </c:pt>
                <c:pt idx="51">
                  <c:v>8.3</c:v>
                </c:pt>
                <c:pt idx="52">
                  <c:v>7.9</c:v>
                </c:pt>
                <c:pt idx="53">
                  <c:v>6.8</c:v>
                </c:pt>
                <c:pt idx="54">
                  <c:v>6.7</c:v>
                </c:pt>
                <c:pt idx="55">
                  <c:v>8.3</c:v>
                </c:pt>
                <c:pt idx="56">
                  <c:v>8.2</c:v>
                </c:pt>
                <c:pt idx="57">
                  <c:v>8.9</c:v>
                </c:pt>
                <c:pt idx="58">
                  <c:v>8.5</c:v>
                </c:pt>
                <c:pt idx="59">
                  <c:v>8.2</c:v>
                </c:pt>
                <c:pt idx="60">
                  <c:v>7.4</c:v>
                </c:pt>
                <c:pt idx="61">
                  <c:v>8.1</c:v>
                </c:pt>
                <c:pt idx="62">
                  <c:v>8.5</c:v>
                </c:pt>
                <c:pt idx="63">
                  <c:v>8.5</c:v>
                </c:pt>
                <c:pt idx="64">
                  <c:v>11.5</c:v>
                </c:pt>
                <c:pt idx="65">
                  <c:v>12.3</c:v>
                </c:pt>
                <c:pt idx="66">
                  <c:v>12.5</c:v>
                </c:pt>
                <c:pt idx="67">
                  <c:v>12.7</c:v>
                </c:pt>
                <c:pt idx="68">
                  <c:v>12.1</c:v>
                </c:pt>
                <c:pt idx="69">
                  <c:v>12.4</c:v>
                </c:pt>
                <c:pt idx="70">
                  <c:v>12.2</c:v>
                </c:pt>
                <c:pt idx="71">
                  <c:v>11.7</c:v>
                </c:pt>
                <c:pt idx="72">
                  <c:v>11.5</c:v>
                </c:pt>
                <c:pt idx="73">
                  <c:v>11.4</c:v>
                </c:pt>
                <c:pt idx="74">
                  <c:v>11.2</c:v>
                </c:pt>
                <c:pt idx="75">
                  <c:v>10.6</c:v>
                </c:pt>
                <c:pt idx="76">
                  <c:v>9.5</c:v>
                </c:pt>
                <c:pt idx="77">
                  <c:v>9.3</c:v>
                </c:pt>
                <c:pt idx="78">
                  <c:v>9.4</c:v>
                </c:pt>
                <c:pt idx="79">
                  <c:v>9.1</c:v>
                </c:pt>
                <c:pt idx="80">
                  <c:v>8.9</c:v>
                </c:pt>
                <c:pt idx="81">
                  <c:v>10.3</c:v>
                </c:pt>
                <c:pt idx="82">
                  <c:v>9.8</c:v>
                </c:pt>
                <c:pt idx="83">
                  <c:v>9.3</c:v>
                </c:pt>
                <c:pt idx="84">
                  <c:v>8.9</c:v>
                </c:pt>
                <c:pt idx="85">
                  <c:v>8.6</c:v>
                </c:pt>
                <c:pt idx="86">
                  <c:v>8.3</c:v>
                </c:pt>
                <c:pt idx="87">
                  <c:v>8.4</c:v>
                </c:pt>
                <c:pt idx="88">
                  <c:v>8.5</c:v>
                </c:pt>
                <c:pt idx="89">
                  <c:v>11</c:v>
                </c:pt>
                <c:pt idx="90">
                  <c:v>12.1</c:v>
                </c:pt>
                <c:pt idx="91">
                  <c:v>13.1</c:v>
                </c:pt>
                <c:pt idx="92">
                  <c:v>13.5</c:v>
                </c:pt>
                <c:pt idx="93">
                  <c:v>13.9</c:v>
                </c:pt>
                <c:pt idx="94">
                  <c:v>14</c:v>
                </c:pt>
                <c:pt idx="95">
                  <c:v>13.9</c:v>
                </c:pt>
                <c:pt idx="96">
                  <c:v>13.6</c:v>
                </c:pt>
                <c:pt idx="97">
                  <c:v>13.6</c:v>
                </c:pt>
                <c:pt idx="98">
                  <c:v>13.5</c:v>
                </c:pt>
                <c:pt idx="99">
                  <c:v>13.2</c:v>
                </c:pt>
                <c:pt idx="100">
                  <c:v>13.3</c:v>
                </c:pt>
                <c:pt idx="101">
                  <c:v>14.2</c:v>
                </c:pt>
                <c:pt idx="102">
                  <c:v>14.3</c:v>
                </c:pt>
                <c:pt idx="103">
                  <c:v>14.8</c:v>
                </c:pt>
                <c:pt idx="104">
                  <c:v>15.1</c:v>
                </c:pt>
                <c:pt idx="105">
                  <c:v>14.8</c:v>
                </c:pt>
                <c:pt idx="106">
                  <c:v>14.7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 валюте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Sheet1!$A$2:$A$108</c:f>
              <c:multiLvlStrCache>
                <c:ptCount val="107"/>
                <c:lvl>
                  <c:pt idx="0">
                    <c:v>2000</c:v>
                  </c:pt>
                  <c:pt idx="1">
                    <c:v>2000</c:v>
                  </c:pt>
                  <c:pt idx="2">
                    <c:v>2000</c:v>
                  </c:pt>
                  <c:pt idx="3">
                    <c:v>2000</c:v>
                  </c:pt>
                  <c:pt idx="4">
                    <c:v>2001</c:v>
                  </c:pt>
                  <c:pt idx="5">
                    <c:v>2001</c:v>
                  </c:pt>
                  <c:pt idx="6">
                    <c:v>2001</c:v>
                  </c:pt>
                  <c:pt idx="7">
                    <c:v>2001</c:v>
                  </c:pt>
                  <c:pt idx="8">
                    <c:v>2002</c:v>
                  </c:pt>
                  <c:pt idx="9">
                    <c:v>2002</c:v>
                  </c:pt>
                  <c:pt idx="10">
                    <c:v>2002</c:v>
                  </c:pt>
                  <c:pt idx="11">
                    <c:v>2002</c:v>
                  </c:pt>
                  <c:pt idx="12">
                    <c:v>2003</c:v>
                  </c:pt>
                  <c:pt idx="13">
                    <c:v>2003</c:v>
                  </c:pt>
                  <c:pt idx="14">
                    <c:v>2003</c:v>
                  </c:pt>
                  <c:pt idx="15">
                    <c:v>2003</c:v>
                  </c:pt>
                  <c:pt idx="16">
                    <c:v>2004</c:v>
                  </c:pt>
                  <c:pt idx="17">
                    <c:v>2004</c:v>
                  </c:pt>
                  <c:pt idx="18">
                    <c:v>2004</c:v>
                  </c:pt>
                  <c:pt idx="19">
                    <c:v>2004</c:v>
                  </c:pt>
                  <c:pt idx="20">
                    <c:v>2005</c:v>
                  </c:pt>
                  <c:pt idx="21">
                    <c:v>2005</c:v>
                  </c:pt>
                  <c:pt idx="22">
                    <c:v>2005</c:v>
                  </c:pt>
                  <c:pt idx="23">
                    <c:v>2005</c:v>
                  </c:pt>
                  <c:pt idx="24">
                    <c:v>2006</c:v>
                  </c:pt>
                  <c:pt idx="25">
                    <c:v>2006</c:v>
                  </c:pt>
                  <c:pt idx="26">
                    <c:v>2006</c:v>
                  </c:pt>
                  <c:pt idx="27">
                    <c:v>2006</c:v>
                  </c:pt>
                  <c:pt idx="28">
                    <c:v>2007</c:v>
                  </c:pt>
                  <c:pt idx="29">
                    <c:v>2007</c:v>
                  </c:pt>
                  <c:pt idx="30">
                    <c:v>2007</c:v>
                  </c:pt>
                  <c:pt idx="31">
                    <c:v>2007</c:v>
                  </c:pt>
                  <c:pt idx="32">
                    <c:v>2008</c:v>
                  </c:pt>
                  <c:pt idx="33">
                    <c:v>2008</c:v>
                  </c:pt>
                  <c:pt idx="34">
                    <c:v>2008</c:v>
                  </c:pt>
                  <c:pt idx="35">
                    <c:v>2008</c:v>
                  </c:pt>
                  <c:pt idx="36">
                    <c:v>2009</c:v>
                  </c:pt>
                  <c:pt idx="37">
                    <c:v>2009</c:v>
                  </c:pt>
                  <c:pt idx="38">
                    <c:v>2009</c:v>
                  </c:pt>
                  <c:pt idx="39">
                    <c:v>2009</c:v>
                  </c:pt>
                  <c:pt idx="40">
                    <c:v>2010</c:v>
                  </c:pt>
                  <c:pt idx="41">
                    <c:v>2010</c:v>
                  </c:pt>
                  <c:pt idx="42">
                    <c:v>2010</c:v>
                  </c:pt>
                  <c:pt idx="43">
                    <c:v>2010</c:v>
                  </c:pt>
                  <c:pt idx="44">
                    <c:v>2011</c:v>
                  </c:pt>
                  <c:pt idx="45">
                    <c:v>2011</c:v>
                  </c:pt>
                  <c:pt idx="46">
                    <c:v>2011</c:v>
                  </c:pt>
                  <c:pt idx="47">
                    <c:v>2011</c:v>
                  </c:pt>
                  <c:pt idx="48">
                    <c:v>2012</c:v>
                  </c:pt>
                  <c:pt idx="49">
                    <c:v>2012</c:v>
                  </c:pt>
                  <c:pt idx="50">
                    <c:v>2012</c:v>
                  </c:pt>
                  <c:pt idx="51">
                    <c:v>2012</c:v>
                  </c:pt>
                  <c:pt idx="52">
                    <c:v>2013</c:v>
                  </c:pt>
                  <c:pt idx="53">
                    <c:v>2013</c:v>
                  </c:pt>
                  <c:pt idx="54">
                    <c:v>2013</c:v>
                  </c:pt>
                  <c:pt idx="55">
                    <c:v>2013</c:v>
                  </c:pt>
                  <c:pt idx="56">
                    <c:v>2014</c:v>
                  </c:pt>
                  <c:pt idx="57">
                    <c:v>2014</c:v>
                  </c:pt>
                  <c:pt idx="58">
                    <c:v>2014</c:v>
                  </c:pt>
                  <c:pt idx="59">
                    <c:v>2014</c:v>
                  </c:pt>
                  <c:pt idx="60">
                    <c:v>2015</c:v>
                  </c:pt>
                  <c:pt idx="61">
                    <c:v>2015</c:v>
                  </c:pt>
                  <c:pt idx="62">
                    <c:v>2015</c:v>
                  </c:pt>
                  <c:pt idx="63">
                    <c:v>2015</c:v>
                  </c:pt>
                  <c:pt idx="64">
                    <c:v>2016</c:v>
                  </c:pt>
                  <c:pt idx="65">
                    <c:v>2016</c:v>
                  </c:pt>
                  <c:pt idx="66">
                    <c:v>2016</c:v>
                  </c:pt>
                  <c:pt idx="67">
                    <c:v>2016</c:v>
                  </c:pt>
                  <c:pt idx="68">
                    <c:v>2017</c:v>
                  </c:pt>
                  <c:pt idx="69">
                    <c:v>2017</c:v>
                  </c:pt>
                  <c:pt idx="70">
                    <c:v>2017</c:v>
                  </c:pt>
                  <c:pt idx="71">
                    <c:v>2017</c:v>
                  </c:pt>
                  <c:pt idx="72">
                    <c:v>2018</c:v>
                  </c:pt>
                  <c:pt idx="73">
                    <c:v>2018</c:v>
                  </c:pt>
                  <c:pt idx="74">
                    <c:v>2018</c:v>
                  </c:pt>
                  <c:pt idx="75">
                    <c:v>2018</c:v>
                  </c:pt>
                  <c:pt idx="76">
                    <c:v>2019</c:v>
                  </c:pt>
                  <c:pt idx="77">
                    <c:v>2019</c:v>
                  </c:pt>
                  <c:pt idx="78">
                    <c:v>2019</c:v>
                  </c:pt>
                  <c:pt idx="79">
                    <c:v>2019</c:v>
                  </c:pt>
                  <c:pt idx="80">
                    <c:v>2020</c:v>
                  </c:pt>
                  <c:pt idx="81">
                    <c:v>2020</c:v>
                  </c:pt>
                  <c:pt idx="82">
                    <c:v>2020</c:v>
                  </c:pt>
                  <c:pt idx="83">
                    <c:v>2020</c:v>
                  </c:pt>
                  <c:pt idx="84">
                    <c:v>2021</c:v>
                  </c:pt>
                  <c:pt idx="85">
                    <c:v>2021</c:v>
                  </c:pt>
                  <c:pt idx="86">
                    <c:v>2021</c:v>
                  </c:pt>
                  <c:pt idx="87">
                    <c:v>2021</c:v>
                  </c:pt>
                  <c:pt idx="88">
                    <c:v>2022</c:v>
                  </c:pt>
                  <c:pt idx="89">
                    <c:v>2022</c:v>
                  </c:pt>
                  <c:pt idx="90">
                    <c:v>2022</c:v>
                  </c:pt>
                  <c:pt idx="91">
                    <c:v>2022</c:v>
                  </c:pt>
                  <c:pt idx="92">
                    <c:v>2023</c:v>
                  </c:pt>
                  <c:pt idx="93">
                    <c:v>2023</c:v>
                  </c:pt>
                  <c:pt idx="94">
                    <c:v>2023</c:v>
                  </c:pt>
                  <c:pt idx="95">
                    <c:v>2023</c:v>
                  </c:pt>
                  <c:pt idx="96">
                    <c:v>2024</c:v>
                  </c:pt>
                  <c:pt idx="97">
                    <c:v>2024</c:v>
                  </c:pt>
                  <c:pt idx="98">
                    <c:v>2024</c:v>
                  </c:pt>
                  <c:pt idx="99">
                    <c:v>2024</c:v>
                  </c:pt>
                  <c:pt idx="100">
                    <c:v>2025</c:v>
                  </c:pt>
                  <c:pt idx="101">
                    <c:v>2025</c:v>
                  </c:pt>
                  <c:pt idx="102">
                    <c:v>2025</c:v>
                  </c:pt>
                  <c:pt idx="103">
                    <c:v>2025</c:v>
                  </c:pt>
                  <c:pt idx="104">
                    <c:v>2026</c:v>
                  </c:pt>
                  <c:pt idx="105">
                    <c:v>2026</c:v>
                  </c:pt>
                  <c:pt idx="106">
                    <c:v>2026</c:v>
                  </c:pt>
                </c:lvl>
              </c:multiLvlStrCache>
            </c:multiLvlStrRef>
          </c:cat>
          <c:val>
            <c:numRef>
              <c:f>Sheet1!$C$2:$C$108</c:f>
              <c:numCache>
                <c:formatCode>General</c:formatCode>
                <c:ptCount val="107"/>
                <c:pt idx="0">
                  <c:v>8.4</c:v>
                </c:pt>
                <c:pt idx="1">
                  <c:v>8</c:v>
                </c:pt>
                <c:pt idx="2">
                  <c:v>8.5</c:v>
                </c:pt>
                <c:pt idx="3">
                  <c:v>8.4</c:v>
                </c:pt>
                <c:pt idx="4">
                  <c:v>7.6</c:v>
                </c:pt>
                <c:pt idx="5">
                  <c:v>7.7</c:v>
                </c:pt>
                <c:pt idx="6">
                  <c:v>6.1</c:v>
                </c:pt>
                <c:pt idx="7">
                  <c:v>7.8</c:v>
                </c:pt>
                <c:pt idx="8">
                  <c:v>7.5</c:v>
                </c:pt>
                <c:pt idx="9">
                  <c:v>7.1</c:v>
                </c:pt>
                <c:pt idx="10">
                  <c:v>6.9</c:v>
                </c:pt>
                <c:pt idx="11">
                  <c:v>6.7</c:v>
                </c:pt>
                <c:pt idx="12">
                  <c:v>5.6</c:v>
                </c:pt>
                <c:pt idx="13">
                  <c:v>6.5</c:v>
                </c:pt>
                <c:pt idx="14">
                  <c:v>5.8</c:v>
                </c:pt>
                <c:pt idx="15">
                  <c:v>5.6</c:v>
                </c:pt>
                <c:pt idx="16">
                  <c:v>5.9</c:v>
                </c:pt>
                <c:pt idx="17">
                  <c:v>6</c:v>
                </c:pt>
                <c:pt idx="18">
                  <c:v>5.4</c:v>
                </c:pt>
                <c:pt idx="19">
                  <c:v>5.6</c:v>
                </c:pt>
                <c:pt idx="20">
                  <c:v>6</c:v>
                </c:pt>
                <c:pt idx="21">
                  <c:v>5.6</c:v>
                </c:pt>
                <c:pt idx="22">
                  <c:v>5.9</c:v>
                </c:pt>
                <c:pt idx="23">
                  <c:v>5.9</c:v>
                </c:pt>
                <c:pt idx="24">
                  <c:v>5.8</c:v>
                </c:pt>
                <c:pt idx="25">
                  <c:v>5.8</c:v>
                </c:pt>
                <c:pt idx="26">
                  <c:v>6.2</c:v>
                </c:pt>
                <c:pt idx="27">
                  <c:v>5.8</c:v>
                </c:pt>
                <c:pt idx="28">
                  <c:v>6.6</c:v>
                </c:pt>
                <c:pt idx="29">
                  <c:v>6.5</c:v>
                </c:pt>
                <c:pt idx="30">
                  <c:v>8.3</c:v>
                </c:pt>
                <c:pt idx="31">
                  <c:v>8.6</c:v>
                </c:pt>
                <c:pt idx="32">
                  <c:v>8.9</c:v>
                </c:pt>
                <c:pt idx="33">
                  <c:v>9.2</c:v>
                </c:pt>
                <c:pt idx="34">
                  <c:v>8.5</c:v>
                </c:pt>
                <c:pt idx="35">
                  <c:v>9.3</c:v>
                </c:pt>
                <c:pt idx="36">
                  <c:v>7.1</c:v>
                </c:pt>
                <c:pt idx="37">
                  <c:v>8.2</c:v>
                </c:pt>
                <c:pt idx="38">
                  <c:v>5.4</c:v>
                </c:pt>
                <c:pt idx="39">
                  <c:v>6.7</c:v>
                </c:pt>
                <c:pt idx="40">
                  <c:v>6.6</c:v>
                </c:pt>
                <c:pt idx="41">
                  <c:v>8.2</c:v>
                </c:pt>
                <c:pt idx="42">
                  <c:v>6.3</c:v>
                </c:pt>
                <c:pt idx="43">
                  <c:v>4.8</c:v>
                </c:pt>
                <c:pt idx="44">
                  <c:v>6.9</c:v>
                </c:pt>
                <c:pt idx="45">
                  <c:v>6.6</c:v>
                </c:pt>
                <c:pt idx="46">
                  <c:v>6.4</c:v>
                </c:pt>
                <c:pt idx="47">
                  <c:v>6.9</c:v>
                </c:pt>
                <c:pt idx="48">
                  <c:v>6.4</c:v>
                </c:pt>
                <c:pt idx="49">
                  <c:v>5.1</c:v>
                </c:pt>
                <c:pt idx="50">
                  <c:v>5.4</c:v>
                </c:pt>
                <c:pt idx="51">
                  <c:v>6.1</c:v>
                </c:pt>
                <c:pt idx="52">
                  <c:v>5.4</c:v>
                </c:pt>
                <c:pt idx="53">
                  <c:v>5</c:v>
                </c:pt>
                <c:pt idx="54">
                  <c:v>4.9</c:v>
                </c:pt>
                <c:pt idx="55">
                  <c:v>4.7</c:v>
                </c:pt>
                <c:pt idx="56">
                  <c:v>3.8</c:v>
                </c:pt>
                <c:pt idx="57">
                  <c:v>4.6</c:v>
                </c:pt>
                <c:pt idx="58">
                  <c:v>3.8</c:v>
                </c:pt>
                <c:pt idx="59">
                  <c:v>3.8</c:v>
                </c:pt>
                <c:pt idx="60">
                  <c:v>3.9</c:v>
                </c:pt>
                <c:pt idx="61">
                  <c:v>3.6</c:v>
                </c:pt>
                <c:pt idx="62">
                  <c:v>3.4</c:v>
                </c:pt>
                <c:pt idx="63">
                  <c:v>3.2</c:v>
                </c:pt>
                <c:pt idx="64">
                  <c:v>3</c:v>
                </c:pt>
                <c:pt idx="65">
                  <c:v>3</c:v>
                </c:pt>
                <c:pt idx="66">
                  <c:v>2.9</c:v>
                </c:pt>
                <c:pt idx="67">
                  <c:v>2.7</c:v>
                </c:pt>
                <c:pt idx="68">
                  <c:v>2.5</c:v>
                </c:pt>
                <c:pt idx="69">
                  <c:v>2.3</c:v>
                </c:pt>
                <c:pt idx="70">
                  <c:v>2.1</c:v>
                </c:pt>
                <c:pt idx="71">
                  <c:v>2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1.5</c:v>
                </c:pt>
                <c:pt idx="76">
                  <c:v>1.2</c:v>
                </c:pt>
                <c:pt idx="77">
                  <c:v>1.2</c:v>
                </c:pt>
                <c:pt idx="78">
                  <c:v>1.1</c:v>
                </c:pt>
                <c:pt idx="79">
                  <c:v>1.3</c:v>
                </c:pt>
                <c:pt idx="80">
                  <c:v>1.4</c:v>
                </c:pt>
                <c:pt idx="81">
                  <c:v>1.1</c:v>
                </c:pt>
                <c:pt idx="82">
                  <c:v>1.4</c:v>
                </c:pt>
                <c:pt idx="83">
                  <c:v>1</c:v>
                </c:pt>
                <c:pt idx="84">
                  <c:v>0.9</c:v>
                </c:pt>
                <c:pt idx="85">
                  <c:v>0.9</c:v>
                </c:pt>
                <c:pt idx="86">
                  <c:v>1</c:v>
                </c:pt>
                <c:pt idx="87">
                  <c:v>0.9</c:v>
                </c:pt>
                <c:pt idx="88">
                  <c:v>0.8</c:v>
                </c:pt>
                <c:pt idx="89">
                  <c:v>0.8</c:v>
                </c:pt>
                <c:pt idx="90">
                  <c:v>0.9</c:v>
                </c:pt>
                <c:pt idx="91">
                  <c:v>0.8</c:v>
                </c:pt>
                <c:pt idx="92">
                  <c:v>0.9</c:v>
                </c:pt>
                <c:pt idx="93">
                  <c:v>0.8</c:v>
                </c:pt>
                <c:pt idx="94">
                  <c:v>0.9</c:v>
                </c:pt>
                <c:pt idx="95">
                  <c:v>0.9</c:v>
                </c:pt>
                <c:pt idx="96">
                  <c:v>0.9</c:v>
                </c:pt>
                <c:pt idx="97">
                  <c:v>0.9</c:v>
                </c:pt>
                <c:pt idx="98">
                  <c:v>0.9</c:v>
                </c:pt>
                <c:pt idx="99">
                  <c:v>0.9</c:v>
                </c:pt>
                <c:pt idx="100">
                  <c:v>0.9</c:v>
                </c:pt>
                <c:pt idx="101">
                  <c:v>0.9</c:v>
                </c:pt>
                <c:pt idx="102">
                  <c:v>0.9</c:v>
                </c:pt>
                <c:pt idx="103">
                  <c:v>0.9</c:v>
                </c:pt>
                <c:pt idx="104">
                  <c:v>0.8</c:v>
                </c:pt>
                <c:pt idx="105">
                  <c:v>0.8</c:v>
                </c:pt>
                <c:pt idx="106">
                  <c:v>0.9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F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S&amp;P 500 нетто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1999</c:v>
                  </c:pt>
                  <c:pt idx="1">
                    <c:v>2000</c:v>
                  </c:pt>
                  <c:pt idx="2">
                    <c:v>2001</c:v>
                  </c:pt>
                  <c:pt idx="3">
                    <c:v>2002</c:v>
                  </c:pt>
                  <c:pt idx="4">
                    <c:v>2003</c:v>
                  </c:pt>
                  <c:pt idx="5">
                    <c:v>2004</c:v>
                  </c:pt>
                  <c:pt idx="6">
                    <c:v>2005</c:v>
                  </c:pt>
                  <c:pt idx="7">
                    <c:v>2006</c:v>
                  </c:pt>
                  <c:pt idx="8">
                    <c:v>2007</c:v>
                  </c:pt>
                  <c:pt idx="9">
                    <c:v>2008</c:v>
                  </c:pt>
                  <c:pt idx="10">
                    <c:v>2009</c:v>
                  </c:pt>
                  <c:pt idx="11">
                    <c:v>2010</c:v>
                  </c:pt>
                  <c:pt idx="12">
                    <c:v>2011</c:v>
                  </c:pt>
                  <c:pt idx="13">
                    <c:v>2012</c:v>
                  </c:pt>
                  <c:pt idx="14">
                    <c:v>2013</c:v>
                  </c:pt>
                  <c:pt idx="15">
                    <c:v>2014</c:v>
                  </c:pt>
                  <c:pt idx="16">
                    <c:v>2015</c:v>
                  </c:pt>
                  <c:pt idx="17">
                    <c:v>2016</c:v>
                  </c:pt>
                  <c:pt idx="18">
                    <c:v>2017</c:v>
                  </c:pt>
                  <c:pt idx="19">
                    <c:v>2018</c:v>
                  </c:pt>
                  <c:pt idx="20">
                    <c:v>2019</c:v>
                  </c:pt>
                  <c:pt idx="21">
                    <c:v>2020</c:v>
                  </c:pt>
                  <c:pt idx="22">
                    <c:v>2021</c:v>
                  </c:pt>
                  <c:pt idx="23">
                    <c:v>2022</c:v>
                  </c:pt>
                  <c:pt idx="24">
                    <c:v>2023</c:v>
                  </c:pt>
                  <c:pt idx="25">
                    <c:v>2024</c:v>
                  </c:pt>
                  <c:pt idx="26">
                    <c:v>2025</c:v>
                  </c:pt>
                  <c:pt idx="27">
                    <c:v>08.26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</c:v>
                </c:pt>
                <c:pt idx="1">
                  <c:v>0.95</c:v>
                </c:pt>
                <c:pt idx="2">
                  <c:v>0.87</c:v>
                </c:pt>
                <c:pt idx="3">
                  <c:v>0.7</c:v>
                </c:pt>
                <c:pt idx="4">
                  <c:v>0.83</c:v>
                </c:pt>
                <c:pt idx="5">
                  <c:v>0.82</c:v>
                </c:pt>
                <c:pt idx="6">
                  <c:v>0.89</c:v>
                </c:pt>
                <c:pt idx="7">
                  <c:v>0.97</c:v>
                </c:pt>
                <c:pt idx="8">
                  <c:v>0.97</c:v>
                </c:pt>
                <c:pt idx="9">
                  <c:v>0.61</c:v>
                </c:pt>
                <c:pt idx="10">
                  <c:v>0.94</c:v>
                </c:pt>
                <c:pt idx="11">
                  <c:v>1.07</c:v>
                </c:pt>
                <c:pt idx="12">
                  <c:v>1.1</c:v>
                </c:pt>
                <c:pt idx="13">
                  <c:v>1.29</c:v>
                </c:pt>
                <c:pt idx="14">
                  <c:v>1.73</c:v>
                </c:pt>
                <c:pt idx="15">
                  <c:v>2.32</c:v>
                </c:pt>
                <c:pt idx="16">
                  <c:v>4.36</c:v>
                </c:pt>
                <c:pt idx="17">
                  <c:v>4.78</c:v>
                </c:pt>
                <c:pt idx="18">
                  <c:v>5.78</c:v>
                </c:pt>
                <c:pt idx="19">
                  <c:v>6.36</c:v>
                </c:pt>
                <c:pt idx="20">
                  <c:v>8.27</c:v>
                </c:pt>
                <c:pt idx="21">
                  <c:v>10.77</c:v>
                </c:pt>
                <c:pt idx="22">
                  <c:v>14.17</c:v>
                </c:pt>
                <c:pt idx="23">
                  <c:v>12.4</c:v>
                </c:pt>
                <c:pt idx="24">
                  <c:v>15.33</c:v>
                </c:pt>
                <c:pt idx="25">
                  <c:v>22.01</c:v>
                </c:pt>
                <c:pt idx="26">
                  <c:v>24.83</c:v>
                </c:pt>
                <c:pt idx="27">
                  <c:v>25.93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Депозит ₸</c:v>
                </c:pt>
              </c:strCache>
            </c:strRef>
          </c:tx>
          <c:spPr>
            <a:solidFill>
              <a:srgbClr val="EB6834"/>
            </a:solidFill>
            <a:ln w="28575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1999</c:v>
                  </c:pt>
                  <c:pt idx="1">
                    <c:v>2000</c:v>
                  </c:pt>
                  <c:pt idx="2">
                    <c:v>2001</c:v>
                  </c:pt>
                  <c:pt idx="3">
                    <c:v>2002</c:v>
                  </c:pt>
                  <c:pt idx="4">
                    <c:v>2003</c:v>
                  </c:pt>
                  <c:pt idx="5">
                    <c:v>2004</c:v>
                  </c:pt>
                  <c:pt idx="6">
                    <c:v>2005</c:v>
                  </c:pt>
                  <c:pt idx="7">
                    <c:v>2006</c:v>
                  </c:pt>
                  <c:pt idx="8">
                    <c:v>2007</c:v>
                  </c:pt>
                  <c:pt idx="9">
                    <c:v>2008</c:v>
                  </c:pt>
                  <c:pt idx="10">
                    <c:v>2009</c:v>
                  </c:pt>
                  <c:pt idx="11">
                    <c:v>2010</c:v>
                  </c:pt>
                  <c:pt idx="12">
                    <c:v>2011</c:v>
                  </c:pt>
                  <c:pt idx="13">
                    <c:v>2012</c:v>
                  </c:pt>
                  <c:pt idx="14">
                    <c:v>2013</c:v>
                  </c:pt>
                  <c:pt idx="15">
                    <c:v>2014</c:v>
                  </c:pt>
                  <c:pt idx="16">
                    <c:v>2015</c:v>
                  </c:pt>
                  <c:pt idx="17">
                    <c:v>2016</c:v>
                  </c:pt>
                  <c:pt idx="18">
                    <c:v>2017</c:v>
                  </c:pt>
                  <c:pt idx="19">
                    <c:v>2018</c:v>
                  </c:pt>
                  <c:pt idx="20">
                    <c:v>2019</c:v>
                  </c:pt>
                  <c:pt idx="21">
                    <c:v>2020</c:v>
                  </c:pt>
                  <c:pt idx="22">
                    <c:v>2021</c:v>
                  </c:pt>
                  <c:pt idx="23">
                    <c:v>2022</c:v>
                  </c:pt>
                  <c:pt idx="24">
                    <c:v>2023</c:v>
                  </c:pt>
                  <c:pt idx="25">
                    <c:v>2024</c:v>
                  </c:pt>
                  <c:pt idx="26">
                    <c:v>2025</c:v>
                  </c:pt>
                  <c:pt idx="27">
                    <c:v>08.26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</c:v>
                </c:pt>
                <c:pt idx="1">
                  <c:v>1.18</c:v>
                </c:pt>
                <c:pt idx="2">
                  <c:v>1.36</c:v>
                </c:pt>
                <c:pt idx="3">
                  <c:v>1.52</c:v>
                </c:pt>
                <c:pt idx="4">
                  <c:v>1.69</c:v>
                </c:pt>
                <c:pt idx="5">
                  <c:v>1.86</c:v>
                </c:pt>
                <c:pt idx="6">
                  <c:v>2.05</c:v>
                </c:pt>
                <c:pt idx="7">
                  <c:v>2.25</c:v>
                </c:pt>
                <c:pt idx="8">
                  <c:v>2.49</c:v>
                </c:pt>
                <c:pt idx="9">
                  <c:v>2.78</c:v>
                </c:pt>
                <c:pt idx="10">
                  <c:v>3.06</c:v>
                </c:pt>
                <c:pt idx="11">
                  <c:v>3.37</c:v>
                </c:pt>
                <c:pt idx="12">
                  <c:v>3.67</c:v>
                </c:pt>
                <c:pt idx="13">
                  <c:v>3.98</c:v>
                </c:pt>
                <c:pt idx="14">
                  <c:v>4.28</c:v>
                </c:pt>
                <c:pt idx="15">
                  <c:v>4.65</c:v>
                </c:pt>
                <c:pt idx="16">
                  <c:v>5.05</c:v>
                </c:pt>
                <c:pt idx="17">
                  <c:v>5.66</c:v>
                </c:pt>
                <c:pt idx="18">
                  <c:v>6.39</c:v>
                </c:pt>
                <c:pt idx="19">
                  <c:v>7.15</c:v>
                </c:pt>
                <c:pt idx="20">
                  <c:v>7.87</c:v>
                </c:pt>
                <c:pt idx="21">
                  <c:v>8.65</c:v>
                </c:pt>
                <c:pt idx="22">
                  <c:v>9.44</c:v>
                </c:pt>
                <c:pt idx="23">
                  <c:v>10.52</c:v>
                </c:pt>
                <c:pt idx="24">
                  <c:v>12.06</c:v>
                </c:pt>
                <c:pt idx="25">
                  <c:v>13.81</c:v>
                </c:pt>
                <c:pt idx="26">
                  <c:v>15.87</c:v>
                </c:pt>
                <c:pt idx="27">
                  <c:v>17.52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Депозит USD</c:v>
                </c:pt>
              </c:strCache>
            </c:strRef>
          </c:tx>
          <c:spPr>
            <a:solidFill>
              <a:srgbClr val="1BAF7A"/>
            </a:solidFill>
            <a:ln w="28575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1999</c:v>
                  </c:pt>
                  <c:pt idx="1">
                    <c:v>2000</c:v>
                  </c:pt>
                  <c:pt idx="2">
                    <c:v>2001</c:v>
                  </c:pt>
                  <c:pt idx="3">
                    <c:v>2002</c:v>
                  </c:pt>
                  <c:pt idx="4">
                    <c:v>2003</c:v>
                  </c:pt>
                  <c:pt idx="5">
                    <c:v>2004</c:v>
                  </c:pt>
                  <c:pt idx="6">
                    <c:v>2005</c:v>
                  </c:pt>
                  <c:pt idx="7">
                    <c:v>2006</c:v>
                  </c:pt>
                  <c:pt idx="8">
                    <c:v>2007</c:v>
                  </c:pt>
                  <c:pt idx="9">
                    <c:v>2008</c:v>
                  </c:pt>
                  <c:pt idx="10">
                    <c:v>2009</c:v>
                  </c:pt>
                  <c:pt idx="11">
                    <c:v>2010</c:v>
                  </c:pt>
                  <c:pt idx="12">
                    <c:v>2011</c:v>
                  </c:pt>
                  <c:pt idx="13">
                    <c:v>2012</c:v>
                  </c:pt>
                  <c:pt idx="14">
                    <c:v>2013</c:v>
                  </c:pt>
                  <c:pt idx="15">
                    <c:v>2014</c:v>
                  </c:pt>
                  <c:pt idx="16">
                    <c:v>2015</c:v>
                  </c:pt>
                  <c:pt idx="17">
                    <c:v>2016</c:v>
                  </c:pt>
                  <c:pt idx="18">
                    <c:v>2017</c:v>
                  </c:pt>
                  <c:pt idx="19">
                    <c:v>2018</c:v>
                  </c:pt>
                  <c:pt idx="20">
                    <c:v>2019</c:v>
                  </c:pt>
                  <c:pt idx="21">
                    <c:v>2020</c:v>
                  </c:pt>
                  <c:pt idx="22">
                    <c:v>2021</c:v>
                  </c:pt>
                  <c:pt idx="23">
                    <c:v>2022</c:v>
                  </c:pt>
                  <c:pt idx="24">
                    <c:v>2023</c:v>
                  </c:pt>
                  <c:pt idx="25">
                    <c:v>2024</c:v>
                  </c:pt>
                  <c:pt idx="26">
                    <c:v>2025</c:v>
                  </c:pt>
                  <c:pt idx="27">
                    <c:v>08.26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1</c:v>
                </c:pt>
                <c:pt idx="1">
                  <c:v>1.14</c:v>
                </c:pt>
                <c:pt idx="2">
                  <c:v>1.28</c:v>
                </c:pt>
                <c:pt idx="3">
                  <c:v>1.42</c:v>
                </c:pt>
                <c:pt idx="4">
                  <c:v>1.4</c:v>
                </c:pt>
                <c:pt idx="5">
                  <c:v>1.34</c:v>
                </c:pt>
                <c:pt idx="6">
                  <c:v>1.46</c:v>
                </c:pt>
                <c:pt idx="7">
                  <c:v>1.47</c:v>
                </c:pt>
                <c:pt idx="8">
                  <c:v>1.5</c:v>
                </c:pt>
                <c:pt idx="9">
                  <c:v>1.65</c:v>
                </c:pt>
                <c:pt idx="10">
                  <c:v>2.18</c:v>
                </c:pt>
                <c:pt idx="11">
                  <c:v>2.31</c:v>
                </c:pt>
                <c:pt idx="12">
                  <c:v>2.48</c:v>
                </c:pt>
                <c:pt idx="13">
                  <c:v>2.67</c:v>
                </c:pt>
                <c:pt idx="14">
                  <c:v>2.86</c:v>
                </c:pt>
                <c:pt idx="15">
                  <c:v>3.54</c:v>
                </c:pt>
                <c:pt idx="16">
                  <c:v>6.82</c:v>
                </c:pt>
                <c:pt idx="17">
                  <c:v>6.9</c:v>
                </c:pt>
                <c:pt idx="18">
                  <c:v>7.04</c:v>
                </c:pt>
                <c:pt idx="19">
                  <c:v>8.28</c:v>
                </c:pt>
                <c:pt idx="20">
                  <c:v>8.31</c:v>
                </c:pt>
                <c:pt idx="21">
                  <c:v>9.28</c:v>
                </c:pt>
                <c:pt idx="22">
                  <c:v>9.62</c:v>
                </c:pt>
                <c:pt idx="23">
                  <c:v>10.39</c:v>
                </c:pt>
                <c:pt idx="24">
                  <c:v>10.3</c:v>
                </c:pt>
                <c:pt idx="25">
                  <c:v>11.97</c:v>
                </c:pt>
                <c:pt idx="26">
                  <c:v>11.59</c:v>
                </c:pt>
                <c:pt idx="27">
                  <c:v>10.78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Инфляция</c:v>
                </c:pt>
              </c:strCache>
            </c:strRef>
          </c:tx>
          <c:spPr>
            <a:solidFill>
              <a:srgbClr val="898781"/>
            </a:solidFill>
            <a:ln w="28575" cap="flat">
              <a:solidFill>
                <a:srgbClr val="8987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98781"/>
              </a:solidFill>
              <a:ln w="9525" cap="flat">
                <a:solidFill>
                  <a:srgbClr val="8987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1999</c:v>
                  </c:pt>
                  <c:pt idx="1">
                    <c:v>2000</c:v>
                  </c:pt>
                  <c:pt idx="2">
                    <c:v>2001</c:v>
                  </c:pt>
                  <c:pt idx="3">
                    <c:v>2002</c:v>
                  </c:pt>
                  <c:pt idx="4">
                    <c:v>2003</c:v>
                  </c:pt>
                  <c:pt idx="5">
                    <c:v>2004</c:v>
                  </c:pt>
                  <c:pt idx="6">
                    <c:v>2005</c:v>
                  </c:pt>
                  <c:pt idx="7">
                    <c:v>2006</c:v>
                  </c:pt>
                  <c:pt idx="8">
                    <c:v>2007</c:v>
                  </c:pt>
                  <c:pt idx="9">
                    <c:v>2008</c:v>
                  </c:pt>
                  <c:pt idx="10">
                    <c:v>2009</c:v>
                  </c:pt>
                  <c:pt idx="11">
                    <c:v>2010</c:v>
                  </c:pt>
                  <c:pt idx="12">
                    <c:v>2011</c:v>
                  </c:pt>
                  <c:pt idx="13">
                    <c:v>2012</c:v>
                  </c:pt>
                  <c:pt idx="14">
                    <c:v>2013</c:v>
                  </c:pt>
                  <c:pt idx="15">
                    <c:v>2014</c:v>
                  </c:pt>
                  <c:pt idx="16">
                    <c:v>2015</c:v>
                  </c:pt>
                  <c:pt idx="17">
                    <c:v>2016</c:v>
                  </c:pt>
                  <c:pt idx="18">
                    <c:v>2017</c:v>
                  </c:pt>
                  <c:pt idx="19">
                    <c:v>2018</c:v>
                  </c:pt>
                  <c:pt idx="20">
                    <c:v>2019</c:v>
                  </c:pt>
                  <c:pt idx="21">
                    <c:v>2020</c:v>
                  </c:pt>
                  <c:pt idx="22">
                    <c:v>2021</c:v>
                  </c:pt>
                  <c:pt idx="23">
                    <c:v>2022</c:v>
                  </c:pt>
                  <c:pt idx="24">
                    <c:v>2023</c:v>
                  </c:pt>
                  <c:pt idx="25">
                    <c:v>2024</c:v>
                  </c:pt>
                  <c:pt idx="26">
                    <c:v>2025</c:v>
                  </c:pt>
                  <c:pt idx="27">
                    <c:v>08.26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</c:v>
                </c:pt>
                <c:pt idx="1">
                  <c:v>1.1</c:v>
                </c:pt>
                <c:pt idx="2">
                  <c:v>1.17</c:v>
                </c:pt>
                <c:pt idx="3">
                  <c:v>1.25</c:v>
                </c:pt>
                <c:pt idx="4">
                  <c:v>1.33</c:v>
                </c:pt>
                <c:pt idx="5">
                  <c:v>1.42</c:v>
                </c:pt>
                <c:pt idx="6">
                  <c:v>1.53</c:v>
                </c:pt>
                <c:pt idx="7">
                  <c:v>1.66</c:v>
                </c:pt>
                <c:pt idx="8">
                  <c:v>1.97</c:v>
                </c:pt>
                <c:pt idx="9">
                  <c:v>2.16</c:v>
                </c:pt>
                <c:pt idx="10">
                  <c:v>2.29</c:v>
                </c:pt>
                <c:pt idx="11">
                  <c:v>2.48</c:v>
                </c:pt>
                <c:pt idx="12">
                  <c:v>2.66</c:v>
                </c:pt>
                <c:pt idx="13">
                  <c:v>2.82</c:v>
                </c:pt>
                <c:pt idx="14">
                  <c:v>2.96</c:v>
                </c:pt>
                <c:pt idx="15">
                  <c:v>3.18</c:v>
                </c:pt>
                <c:pt idx="16">
                  <c:v>3.61</c:v>
                </c:pt>
                <c:pt idx="17">
                  <c:v>3.91</c:v>
                </c:pt>
                <c:pt idx="18">
                  <c:v>4.2</c:v>
                </c:pt>
                <c:pt idx="19">
                  <c:v>4.42</c:v>
                </c:pt>
                <c:pt idx="20">
                  <c:v>4.66</c:v>
                </c:pt>
                <c:pt idx="21">
                  <c:v>5.01</c:v>
                </c:pt>
                <c:pt idx="22">
                  <c:v>5.44</c:v>
                </c:pt>
                <c:pt idx="23">
                  <c:v>6.55</c:v>
                </c:pt>
                <c:pt idx="24">
                  <c:v>7.21</c:v>
                </c:pt>
                <c:pt idx="25">
                  <c:v>7.84</c:v>
                </c:pt>
                <c:pt idx="26">
                  <c:v>8.8</c:v>
                </c:pt>
                <c:pt idx="27">
                  <c:v>9.37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F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logBase val="10"/>
          <c:orientation val="minMax"/>
          <c:max val="50"/>
          <c:min val="0.5"/>
        </c:scaling>
        <c:delete val="0"/>
        <c:axPos val="l"/>
        <c:majorGridlines>
          <c:spPr>
            <a:ln w="9525" cap="flat">
              <a:solidFill>
                <a:srgbClr val="E4E8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58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582"/>
                    </a:solidFill>
                    <a:latin typeface="Arial"/>
                  </a:rPr>
                  <a:t>млн ₸, логарифмическая шкала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S&amp;P 500 впереди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Sheet1!$A$2:$A$28</c:f>
              <c:multiLvlStrCache>
                <c:ptCount val="27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  <c:pt idx="26">
                    <c:v>2026*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7.3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41.4</c:v>
                </c:pt>
                <c:pt idx="10">
                  <c:v>3.7</c:v>
                </c:pt>
                <c:pt idx="11">
                  <c:v>0</c:v>
                </c:pt>
                <c:pt idx="12">
                  <c:v>8.6</c:v>
                </c:pt>
                <c:pt idx="13">
                  <c:v>25.4</c:v>
                </c:pt>
                <c:pt idx="14">
                  <c:v>24.3</c:v>
                </c:pt>
                <c:pt idx="15">
                  <c:v>73.9</c:v>
                </c:pt>
                <c:pt idx="16">
                  <c:v>0</c:v>
                </c:pt>
                <c:pt idx="17">
                  <c:v>7.6</c:v>
                </c:pt>
                <c:pt idx="18">
                  <c:v>0</c:v>
                </c:pt>
                <c:pt idx="19">
                  <c:v>18.6</c:v>
                </c:pt>
                <c:pt idx="20">
                  <c:v>18.8</c:v>
                </c:pt>
                <c:pt idx="21">
                  <c:v>21</c:v>
                </c:pt>
                <c:pt idx="22">
                  <c:v>0</c:v>
                </c:pt>
                <c:pt idx="23">
                  <c:v>8.2</c:v>
                </c:pt>
                <c:pt idx="24">
                  <c:v>25.8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Депозит впереди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Sheet1!$A$2:$A$28</c:f>
              <c:multiLvlStrCache>
                <c:ptCount val="27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  <c:pt idx="26">
                    <c:v>2026*</c:v>
                  </c:pt>
                </c:lvl>
              </c:multiLvlStrCache>
            </c:multiLvl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-19.2</c:v>
                </c:pt>
                <c:pt idx="1">
                  <c:v>-20.8</c:v>
                </c:pt>
                <c:pt idx="2">
                  <c:v>-28</c:v>
                </c:pt>
                <c:pt idx="3">
                  <c:v>0</c:v>
                </c:pt>
                <c:pt idx="4">
                  <c:v>-9.1</c:v>
                </c:pt>
                <c:pt idx="5">
                  <c:v>-1.7</c:v>
                </c:pt>
                <c:pt idx="6">
                  <c:v>0</c:v>
                </c:pt>
                <c:pt idx="7">
                  <c:v>-9.8</c:v>
                </c:pt>
                <c:pt idx="8">
                  <c:v>-43.4</c:v>
                </c:pt>
                <c:pt idx="9">
                  <c:v>0</c:v>
                </c:pt>
                <c:pt idx="10">
                  <c:v>0</c:v>
                </c:pt>
                <c:pt idx="11">
                  <c:v>-5.5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-2</c:v>
                </c:pt>
                <c:pt idx="17">
                  <c:v>0</c:v>
                </c:pt>
                <c:pt idx="18">
                  <c:v>-1.2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-21.2</c:v>
                </c:pt>
                <c:pt idx="23">
                  <c:v>0</c:v>
                </c:pt>
                <c:pt idx="24">
                  <c:v>0</c:v>
                </c:pt>
                <c:pt idx="25">
                  <c:v>-1.6</c:v>
                </c:pt>
                <c:pt idx="26">
                  <c:v>-5.2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F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8E6"/>
              </a:solidFill>
              <a:prstDash val="solid"/>
              <a:round/>
            </a:ln>
          </c:spPr>
        </c:majorGridlines>
        <c:numFmt formatCode="+0&quot;%&quot;;−0&quot;%&quot;;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Нетто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01A1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 год</c:v>
                  </c:pt>
                  <c:pt idx="1">
                    <c:v>3 года</c:v>
                  </c:pt>
                  <c:pt idx="2">
                    <c:v>5 лет</c:v>
                  </c:pt>
                  <c:pt idx="3">
                    <c:v>7 лет</c:v>
                  </c:pt>
                  <c:pt idx="4">
                    <c:v>10 лет</c:v>
                  </c:pt>
                  <c:pt idx="5">
                    <c:v>15 лет</c:v>
                  </c:pt>
                  <c:pt idx="6">
                    <c:v>20 лет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</c:v>
                </c:pt>
                <c:pt idx="1">
                  <c:v>58</c:v>
                </c:pt>
                <c:pt idx="2">
                  <c:v>60</c:v>
                </c:pt>
                <c:pt idx="3">
                  <c:v>64</c:v>
                </c:pt>
                <c:pt idx="4">
                  <c:v>74</c:v>
                </c:pt>
                <c:pt idx="5">
                  <c:v>90</c:v>
                </c:pt>
                <c:pt idx="6">
                  <c:v>93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01A1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F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8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Надбавка ставки тенге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9</c:v>
                </c:pt>
                <c:pt idx="1">
                  <c:v>7.6</c:v>
                </c:pt>
                <c:pt idx="2">
                  <c:v>4.7</c:v>
                </c:pt>
                <c:pt idx="3">
                  <c:v>4.7</c:v>
                </c:pt>
                <c:pt idx="4">
                  <c:v>4</c:v>
                </c:pt>
                <c:pt idx="5">
                  <c:v>3.8</c:v>
                </c:pt>
                <c:pt idx="6">
                  <c:v>3.7</c:v>
                </c:pt>
                <c:pt idx="7">
                  <c:v>3.1</c:v>
                </c:pt>
                <c:pt idx="8">
                  <c:v>2.1</c:v>
                </c:pt>
                <c:pt idx="9">
                  <c:v>2.4</c:v>
                </c:pt>
                <c:pt idx="10">
                  <c:v>3.5</c:v>
                </c:pt>
                <c:pt idx="11">
                  <c:v>2</c:v>
                </c:pt>
                <c:pt idx="12">
                  <c:v>2.8</c:v>
                </c:pt>
                <c:pt idx="13">
                  <c:v>2.4</c:v>
                </c:pt>
                <c:pt idx="14">
                  <c:v>4.4</c:v>
                </c:pt>
                <c:pt idx="15">
                  <c:v>4.9</c:v>
                </c:pt>
                <c:pt idx="16">
                  <c:v>9.3</c:v>
                </c:pt>
                <c:pt idx="17">
                  <c:v>10.6</c:v>
                </c:pt>
                <c:pt idx="18">
                  <c:v>10.1</c:v>
                </c:pt>
                <c:pt idx="19">
                  <c:v>8.8</c:v>
                </c:pt>
                <c:pt idx="20">
                  <c:v>8.8</c:v>
                </c:pt>
                <c:pt idx="21">
                  <c:v>8.2</c:v>
                </c:pt>
                <c:pt idx="22">
                  <c:v>10.5</c:v>
                </c:pt>
                <c:pt idx="23">
                  <c:v>13.9</c:v>
                </c:pt>
                <c:pt idx="24">
                  <c:v>13.6</c:v>
                </c:pt>
                <c:pt idx="25">
                  <c:v>14.1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Ослабление тенге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4.6</c:v>
                </c:pt>
                <c:pt idx="1">
                  <c:v>3.9</c:v>
                </c:pt>
                <c:pt idx="2">
                  <c:v>3.6</c:v>
                </c:pt>
                <c:pt idx="3">
                  <c:v>-7.3</c:v>
                </c:pt>
                <c:pt idx="4">
                  <c:v>-9.9</c:v>
                </c:pt>
                <c:pt idx="5">
                  <c:v>2.9</c:v>
                </c:pt>
                <c:pt idx="6">
                  <c:v>-5.1</c:v>
                </c:pt>
                <c:pt idx="7">
                  <c:v>-5.3</c:v>
                </c:pt>
                <c:pt idx="8">
                  <c:v>0.4</c:v>
                </c:pt>
                <c:pt idx="9">
                  <c:v>22.9</c:v>
                </c:pt>
                <c:pt idx="10">
                  <c:v>-0.7</c:v>
                </c:pt>
                <c:pt idx="11">
                  <c:v>0.7</c:v>
                </c:pt>
                <c:pt idx="12">
                  <c:v>1.6</c:v>
                </c:pt>
                <c:pt idx="13">
                  <c:v>1.9</c:v>
                </c:pt>
                <c:pt idx="14">
                  <c:v>18.7</c:v>
                </c:pt>
                <c:pt idx="15">
                  <c:v>86.2</c:v>
                </c:pt>
                <c:pt idx="16">
                  <c:v>-1.8</c:v>
                </c:pt>
                <c:pt idx="17">
                  <c:v>-0.3</c:v>
                </c:pt>
                <c:pt idx="18">
                  <c:v>15.6</c:v>
                </c:pt>
                <c:pt idx="19">
                  <c:v>-0.8</c:v>
                </c:pt>
                <c:pt idx="20">
                  <c:v>10.4</c:v>
                </c:pt>
                <c:pt idx="21">
                  <c:v>2.6</c:v>
                </c:pt>
                <c:pt idx="22">
                  <c:v>7.2</c:v>
                </c:pt>
                <c:pt idx="23">
                  <c:v>-1.8</c:v>
                </c:pt>
                <c:pt idx="24">
                  <c:v>15.2</c:v>
                </c:pt>
                <c:pt idx="25">
                  <c:v>-4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F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8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S&amp;P 500 впереди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01A1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 года</c:v>
                  </c:pt>
                  <c:pt idx="1">
                    <c:v>5 лет</c:v>
                  </c:pt>
                  <c:pt idx="2">
                    <c:v>10 лет</c:v>
                  </c:pt>
                  <c:pt idx="3">
                    <c:v>15 лет</c:v>
                  </c:pt>
                  <c:pt idx="4">
                    <c:v>20 лет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66</c:v>
                </c:pt>
                <c:pt idx="2">
                  <c:v>77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01A1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F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b"/>
        <c:majorGridlines>
          <c:spPr>
            <a:ln w="9525" cap="flat">
              <a:solidFill>
                <a:srgbClr val="E4E8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История</c:v>
                </c:pt>
              </c:strCache>
            </c:strRef>
          </c:tx>
          <c:spPr>
            <a:solidFill>
              <a:srgbClr val="86B6E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652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год</c:v>
                  </c:pt>
                  <c:pt idx="1">
                    <c:v>3 года</c:v>
                  </c:pt>
                  <c:pt idx="2">
                    <c:v>5 лет</c:v>
                  </c:pt>
                  <c:pt idx="3">
                    <c:v>10 лет</c:v>
                  </c:pt>
                  <c:pt idx="4">
                    <c:v>15 лет</c:v>
                  </c:pt>
                  <c:pt idx="5">
                    <c:v>20 лет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58</c:v>
                </c:pt>
                <c:pt idx="2">
                  <c:v>60</c:v>
                </c:pt>
                <c:pt idx="3">
                  <c:v>74</c:v>
                </c:pt>
                <c:pt idx="4">
                  <c:v>90</c:v>
                </c:pt>
                <c:pt idx="5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Бутстреп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652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год</c:v>
                  </c:pt>
                  <c:pt idx="1">
                    <c:v>3 года</c:v>
                  </c:pt>
                  <c:pt idx="2">
                    <c:v>5 лет</c:v>
                  </c:pt>
                  <c:pt idx="3">
                    <c:v>10 лет</c:v>
                  </c:pt>
                  <c:pt idx="4">
                    <c:v>15 лет</c:v>
                  </c:pt>
                  <c:pt idx="5">
                    <c:v>20 лет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53</c:v>
                </c:pt>
                <c:pt idx="1">
                  <c:v>56</c:v>
                </c:pt>
                <c:pt idx="2">
                  <c:v>58</c:v>
                </c:pt>
                <c:pt idx="3">
                  <c:v>62</c:v>
                </c:pt>
                <c:pt idx="4">
                  <c:v>64</c:v>
                </c:pt>
                <c:pt idx="5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4652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F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8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5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сравнение двух способов сбережения для жителя Казахстана — срочного депозита в тенге и инвестиций в индекс S&amp;P 500. Все расчёты сделаны на официальных данных за 26,7 лет.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Сформулированы четыре гипотезы. Результаты проверки показаны сразу, дальше — доказательства по каждой.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подчеркнуть: все данные официальные и проверяемые, код анализа приложен.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ключевых фактора: девальвации 2009, 2014 и 2015 годов и то, что тенговые ставки всегда были заметно выше валютных — после 2015 года ставки по валютным вкладам ограничены около 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26,7 лет S&amp;P 500 выиграл, но разрыв небольшой — около 1,2 процентного пункта в год. Видно, что до 2009 года акции долго были ниже депозита.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результат сильно зависит от конкретного года: большие плюсы S&amp;P 500 совпадают с девальвациями.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Перебраны все месяцы входа. Худшее 10-летнее окно — вход в сентябре 2000 года: −11,9 п.п. в год к депозиту.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Тепловая карта показывает риск момента входа: всё, что начиналось в 2000–2002 годах, долго проигрывало.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содержательный вывод. Акции обгоняют депозит в тенге благодаря редким, но большим девальвациям.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Риск: депозит почти безрисковый в тенге, S&amp;P 500 — нет. Портфель 50/50 — компромисс.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обычного человека, откладывающего часть зарплаты, это самый реалистичный сценарий.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 лет — это всего 2–3 независимых десятилетия, поэтому исторические 93% завышены. Бутстреп даёт 67% на 20 лет.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Итоговый ответ на вопрос исследования.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 обозначить ограничения — признак сильного исследования.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B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ИССЛЕДОВАТЕЛЬСКИЙ ПРОЕКТ  ·  ДАННЫЕ НБРК, S&amp;P DOW JONES, IMF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Может ли </a:t>
            </a:r>
            <a:pPr indent="0" marL="0">
              <a:buNone/>
            </a:pPr>
            <a:r>
              <a:rPr lang="en-US" sz="5000" b="1" dirty="0">
                <a:solidFill>
                  <a:srgbClr val="5A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 500</a:t>
            </a:r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стабильно обгонять депозит в </a:t>
            </a:r>
            <a:pPr indent="0" marL="0">
              <a:buNone/>
            </a:pPr>
            <a:r>
              <a:rPr lang="en-US" sz="5000" b="1" dirty="0">
                <a:solidFill>
                  <a:srgbClr val="F08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тенге</a:t>
            </a:r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месяцев реальных данных: декабрь 1999 — август 2026. Доходности в тенге, с налогами и комиссиями, для каждого момента входа.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98348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1C2826"/>
          </a:solidFill>
          <a:ln w="12700">
            <a:solidFill>
              <a:srgbClr val="1C2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→ 465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669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USD/KZT, НБРК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498348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1C2826"/>
          </a:solidFill>
          <a:ln w="12700">
            <a:solidFill>
              <a:srgbClr val="1C28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17,5 млн ₸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5669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 млн на депозите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498348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1C2826"/>
          </a:solidFill>
          <a:ln w="12700">
            <a:solidFill>
              <a:srgbClr val="1C28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23,3 млн ₸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5669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 млн в S&amp;P 500, нетто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ВОПРОС И ГИПОТЕЗЫ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мы проверяем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в тенге: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ставка, гарантия КФГД, 0% ИПН — но валюта подешевела к доллару в 3,4 раза.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крупнейших компаний США — доходный, но волатильный, долларовый и облагаемый налогами.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обгоняет ли S&amp;P 500 в тенге депозит — и насколько стабильно, при каком горизонте и с какой вероятностью?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760720" y="1691640"/>
            <a:ext cx="5879592" cy="969264"/>
          </a:xfrm>
          <a:prstGeom prst="roundRect">
            <a:avLst>
              <a:gd name="adj" fmla="val 11321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920240"/>
            <a:ext cx="512064" cy="512064"/>
          </a:xfrm>
          <a:prstGeom prst="ellipse">
            <a:avLst/>
          </a:prstGeom>
          <a:solidFill>
            <a:srgbClr val="006300"/>
          </a:solidFill>
          <a:ln w="12700">
            <a:solidFill>
              <a:srgbClr val="0063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8196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весь период S&amp;P 500 после налогов обгоняет депозит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2037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Подтверждена: 12,5% против 11,3% в год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2807208"/>
            <a:ext cx="5879592" cy="969264"/>
          </a:xfrm>
          <a:prstGeom prst="roundRect">
            <a:avLst>
              <a:gd name="adj" fmla="val 11321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3035808"/>
            <a:ext cx="512064" cy="51206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9352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 (≥80% случаев) — уже на горизонте до 5 лет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3192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Отвергнута: лишь 52%–60% окон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3922776"/>
            <a:ext cx="5879592" cy="969264"/>
          </a:xfrm>
          <a:prstGeom prst="roundRect">
            <a:avLst>
              <a:gd name="adj" fmla="val 11321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4151376"/>
            <a:ext cx="512064" cy="512064"/>
          </a:xfrm>
          <a:prstGeom prst="ellipse">
            <a:avLst/>
          </a:prstGeom>
          <a:solidFill>
            <a:srgbClr val="0B6468"/>
          </a:solidFill>
          <a:ln w="12700">
            <a:solidFill>
              <a:srgbClr val="0B64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050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горизонте 15+ лет преимущество устойчиво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4348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Частично: 90%–93% окон, но 64–67% в бутстрепе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5038344"/>
            <a:ext cx="5879592" cy="969264"/>
          </a:xfrm>
          <a:prstGeom prst="roundRect">
            <a:avLst>
              <a:gd name="adj" fmla="val 11321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5266944"/>
            <a:ext cx="512064" cy="512064"/>
          </a:xfrm>
          <a:prstGeom prst="ellipse">
            <a:avLst/>
          </a:prstGeom>
          <a:solidFill>
            <a:srgbClr val="006300"/>
          </a:solidFill>
          <a:ln w="12700">
            <a:solidFill>
              <a:srgbClr val="0063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0" y="5266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5166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источник преимущества — ослабление тенге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55504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Подтверждена: в USD S&amp;P 500 дал 8,4% в год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ДАННЫЕ И МЕТОДОЛОГИЯ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первичные источники, месячная частота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492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331720"/>
                <a:gridCol w="1325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Ряд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Период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Total Return (^SP500TR), SPY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Dow Jones Indices / Yahoo Finance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12.1999–08.2026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Официальный курс USD/KZT, конец месяца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Национальный Банк РК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12.1999–08.2026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Ставки по срочным депозитам физлиц, KZT и валюта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Национальный Банк РК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12.1999–07.2026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Индекс потребительских цен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IMF IFS; БНС АСПиР РК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12.1999–08.2026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3891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качества: доходность ETF SPY отличается от индекса на −0,08% в год — ровно на комиссию фонда.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406640" y="1737360"/>
            <a:ext cx="4233672" cy="4389120"/>
          </a:xfrm>
          <a:prstGeom prst="roundRect">
            <a:avLst>
              <a:gd name="adj" fmla="val 2592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1901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«нетто» для S&amp;P 500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3317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налог в США на дивиденды (W-8BEN)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0,10% в год: комиссия ETF и брокера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0,5% на конвертацию при входе и выходе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ИПН с прироста в тенге при продаже (вне KASE/AIX)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Депозит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45902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Средневзвешенная ставка НБРК по новым срочным вкладам, ежемесячная капитализация, без ИПН.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Методы: скользящие окна по всем месяцам входа (1–20 лет), тепловая карта «год входа × год выхода», блочный бутстреп 10 000 траекторий, сценарный анализ.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КОНТЕКСТ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Тенге ослаб в 3,4 раза, а ставки остались высокими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курс USD/KZT, тенге за доллар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1168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Ставки по срочным депозитам физлиц, % годовых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20756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28816" y="2011680"/>
            <a:ext cx="864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тенге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75804" y="20756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95260" y="2011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иностранной валюте</a:t>
            </a:r>
            <a:endParaRPr lang="en-US" sz="12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17920" y="228600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Национальный Банк РК. Ослабление тенге за год: 2009 (+23%), 2014 (+19%), 2015 — переход к плавающему курсу (+86%).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РЕЗУЛЬТАТ ЗА ВЕСЬ ПЕРИОД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1 000 000 ₸, вложенный в конце 1999 года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45920"/>
            <a:ext cx="1796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в ₸ (нетто)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7772" y="1709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67228" y="1645920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в тенге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36008" y="1709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55464" y="1645920"/>
            <a:ext cx="133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в USD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68796" y="1709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98781"/>
          </a:solidFill>
          <a:ln w="12700">
            <a:solidFill>
              <a:srgbClr val="8987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8252" y="16459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Инфляция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965960"/>
          <a:ext cx="76809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8321040" y="1691640"/>
            <a:ext cx="3319272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49640" y="185623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23,3 млн ₸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4231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после всех налогов · 12,5% в год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21040" y="3063240"/>
            <a:ext cx="3319272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49640" y="322783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17,5 млн ₸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37947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в тенге · 11,3% в год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321040" y="4434840"/>
            <a:ext cx="3319272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49640" y="459943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+1,2 п.п.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51663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преимущество S&amp;P 500 в год; реально: 3,5% против 2,4%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Нетто-кривая на графике — до налога 10% при продаже; итоговые цифры справа — после него. Инфляция 8,75% в год.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ГОД ЗА ГОДОМ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 500 выиграл 14 лет из 26 — редко, но крупно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65960"/>
          <a:ext cx="78638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709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1645920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впереди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436876" y="1709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56332" y="1645920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впереди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412480" y="1691640"/>
            <a:ext cx="3227832" cy="4526280"/>
          </a:xfrm>
          <a:prstGeom prst="roundRect">
            <a:avLst>
              <a:gd name="adj" fmla="val 339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4108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Асимметрия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2286000"/>
            <a:ext cx="2834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впереди в 12 годах — сильнее всего в 2000–2002 и 2008, когда рынок падал.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выигрывает рывками: 2009 (+41%), 2015 (+74%), 2024 (+26%).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год: S&amp;P 500 в долларах +1,4%, но курс +86%, и в тенге вышло +89%.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доходностей в тенге, брутто, % за календарный год. * 2026 — январь–август.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ГЛАВНЫЙ ТЕСТ — СТАБИЛЬНОСТЬ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Шанс обогнать депозит растёт с горизонтом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83080"/>
            <a:ext cx="4050792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947672"/>
            <a:ext cx="3593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 – 60%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51460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1–5 лет: почти подбрасывание монеты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3154680"/>
            <a:ext cx="4050792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3319272"/>
            <a:ext cx="3593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388620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10 лет · медиана +7,0% в год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0" y="4526280"/>
            <a:ext cx="4050792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18120" y="4690872"/>
            <a:ext cx="3593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– 93%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525780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15–20 лет: устойчивое преимущество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окон, где S&amp;P 500 (нетто, после налога на выходе) принёс больше депозита в тенге. Окон: 309 / 285 / 261 / 237 / 201 / 141 / 81 для горизонтов 1 / 3 / 5 / 7 / 10 / 15 / 20 лет.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МОМЕНТ ВХОДА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Момент покупки важнее срока владения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39112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2057400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7397" y="2057400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4674" y="2057400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31950" y="2057400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9227" y="2057400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46504" y="2057400"/>
            <a:ext cx="138989" cy="138989"/>
          </a:xfrm>
          <a:prstGeom prst="rect">
            <a:avLst/>
          </a:prstGeom>
          <a:solidFill>
            <a:srgbClr val="EC794B"/>
          </a:solidFill>
          <a:ln w="12700">
            <a:solidFill>
              <a:srgbClr val="EC79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3781" y="2057400"/>
            <a:ext cx="138989" cy="138989"/>
          </a:xfrm>
          <a:prstGeom prst="rect">
            <a:avLst/>
          </a:prstGeom>
          <a:solidFill>
            <a:srgbClr val="EC8961"/>
          </a:solidFill>
          <a:ln w="12700">
            <a:solidFill>
              <a:srgbClr val="EC89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1058" y="2057400"/>
            <a:ext cx="138989" cy="138989"/>
          </a:xfrm>
          <a:prstGeom prst="rect">
            <a:avLst/>
          </a:prstGeom>
          <a:solidFill>
            <a:srgbClr val="EC8A62"/>
          </a:solidFill>
          <a:ln w="12700">
            <a:solidFill>
              <a:srgbClr val="EC8A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8334" y="2057400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5611" y="2057400"/>
            <a:ext cx="138989" cy="138989"/>
          </a:xfrm>
          <a:prstGeom prst="rect">
            <a:avLst/>
          </a:prstGeom>
          <a:solidFill>
            <a:srgbClr val="EC8A63"/>
          </a:solidFill>
          <a:ln w="12700">
            <a:solidFill>
              <a:srgbClr val="EC8A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2888" y="2057400"/>
            <a:ext cx="138989" cy="138989"/>
          </a:xfrm>
          <a:prstGeom prst="rect">
            <a:avLst/>
          </a:prstGeom>
          <a:solidFill>
            <a:srgbClr val="ED9571"/>
          </a:solidFill>
          <a:ln w="12700">
            <a:solidFill>
              <a:srgbClr val="ED95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0165" y="2057400"/>
            <a:ext cx="138989" cy="138989"/>
          </a:xfrm>
          <a:prstGeom prst="rect">
            <a:avLst/>
          </a:prstGeom>
          <a:solidFill>
            <a:srgbClr val="ED9875"/>
          </a:solidFill>
          <a:ln w="12700">
            <a:solidFill>
              <a:srgbClr val="ED98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47442" y="2057400"/>
            <a:ext cx="138989" cy="138989"/>
          </a:xfrm>
          <a:prstGeom prst="rect">
            <a:avLst/>
          </a:prstGeom>
          <a:solidFill>
            <a:srgbClr val="EDA284"/>
          </a:solidFill>
          <a:ln w="12700">
            <a:solidFill>
              <a:srgbClr val="EDA2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04718" y="2057400"/>
            <a:ext cx="138989" cy="138989"/>
          </a:xfrm>
          <a:prstGeom prst="rect">
            <a:avLst/>
          </a:prstGeom>
          <a:solidFill>
            <a:srgbClr val="EEB49B"/>
          </a:solidFill>
          <a:ln w="12700">
            <a:solidFill>
              <a:srgbClr val="EEB4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1995" y="2057400"/>
            <a:ext cx="138989" cy="138989"/>
          </a:xfrm>
          <a:prstGeom prst="rect">
            <a:avLst/>
          </a:prstGeom>
          <a:solidFill>
            <a:srgbClr val="EEC3B0"/>
          </a:solidFill>
          <a:ln w="12700">
            <a:solidFill>
              <a:srgbClr val="EEC3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9272" y="2057400"/>
            <a:ext cx="138989" cy="138989"/>
          </a:xfrm>
          <a:prstGeom prst="rect">
            <a:avLst/>
          </a:prstGeom>
          <a:solidFill>
            <a:srgbClr val="F0E2DA"/>
          </a:solidFill>
          <a:ln w="12700">
            <a:solidFill>
              <a:srgbClr val="F0E2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6549" y="2057400"/>
            <a:ext cx="138989" cy="138989"/>
          </a:xfrm>
          <a:prstGeom prst="rect">
            <a:avLst/>
          </a:prstGeom>
          <a:solidFill>
            <a:srgbClr val="F0E2DA"/>
          </a:solidFill>
          <a:ln w="12700">
            <a:solidFill>
              <a:srgbClr val="F0E2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33826" y="2057400"/>
            <a:ext cx="138989" cy="138989"/>
          </a:xfrm>
          <a:prstGeom prst="rect">
            <a:avLst/>
          </a:prstGeom>
          <a:solidFill>
            <a:srgbClr val="F0E5DF"/>
          </a:solidFill>
          <a:ln w="12700">
            <a:solidFill>
              <a:srgbClr val="F0E5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1102" y="2057400"/>
            <a:ext cx="138989" cy="138989"/>
          </a:xfrm>
          <a:prstGeom prst="rect">
            <a:avLst/>
          </a:prstGeom>
          <a:solidFill>
            <a:srgbClr val="F0E5DF"/>
          </a:solidFill>
          <a:ln w="12700">
            <a:solidFill>
              <a:srgbClr val="F0E5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48379" y="2057400"/>
            <a:ext cx="138989" cy="138989"/>
          </a:xfrm>
          <a:prstGeom prst="rect">
            <a:avLst/>
          </a:prstGeom>
          <a:solidFill>
            <a:srgbClr val="F0EDE9"/>
          </a:solidFill>
          <a:ln w="12700">
            <a:solidFill>
              <a:srgbClr val="F0ED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05656" y="2057400"/>
            <a:ext cx="138989" cy="138989"/>
          </a:xfrm>
          <a:prstGeom prst="rect">
            <a:avLst/>
          </a:prstGeom>
          <a:solidFill>
            <a:srgbClr val="E8EAEB"/>
          </a:solidFill>
          <a:ln w="12700">
            <a:solidFill>
              <a:srgbClr val="E8EA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62933" y="2057400"/>
            <a:ext cx="138989" cy="138989"/>
          </a:xfrm>
          <a:prstGeom prst="rect">
            <a:avLst/>
          </a:prstGeom>
          <a:solidFill>
            <a:srgbClr val="DEE4EA"/>
          </a:solidFill>
          <a:ln w="12700">
            <a:solidFill>
              <a:srgbClr val="DEE4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20210" y="2057400"/>
            <a:ext cx="138989" cy="138989"/>
          </a:xfrm>
          <a:prstGeom prst="rect">
            <a:avLst/>
          </a:prstGeom>
          <a:solidFill>
            <a:srgbClr val="ECEDEC"/>
          </a:solidFill>
          <a:ln w="12700">
            <a:solidFill>
              <a:srgbClr val="ECED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7486" y="2057400"/>
            <a:ext cx="138989" cy="138989"/>
          </a:xfrm>
          <a:prstGeom prst="rect">
            <a:avLst/>
          </a:prstGeom>
          <a:solidFill>
            <a:srgbClr val="E8EAEB"/>
          </a:solidFill>
          <a:ln w="12700">
            <a:solidFill>
              <a:srgbClr val="E8EA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34763" y="2057400"/>
            <a:ext cx="138989" cy="138989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057400"/>
            <a:ext cx="138989" cy="138989"/>
          </a:xfrm>
          <a:prstGeom prst="rect">
            <a:avLst/>
          </a:prstGeom>
          <a:solidFill>
            <a:srgbClr val="DFE5EA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17397" y="2214677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74674" y="2214677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31950" y="2214677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89227" y="2214677"/>
            <a:ext cx="138989" cy="138989"/>
          </a:xfrm>
          <a:prstGeom prst="rect">
            <a:avLst/>
          </a:prstGeom>
          <a:solidFill>
            <a:srgbClr val="EB7140"/>
          </a:solidFill>
          <a:ln w="12700">
            <a:solidFill>
              <a:srgbClr val="EB71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46504" y="2214677"/>
            <a:ext cx="138989" cy="138989"/>
          </a:xfrm>
          <a:prstGeom prst="rect">
            <a:avLst/>
          </a:prstGeom>
          <a:solidFill>
            <a:srgbClr val="EC855C"/>
          </a:solidFill>
          <a:ln w="12700">
            <a:solidFill>
              <a:srgbClr val="EC85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03781" y="2214677"/>
            <a:ext cx="138989" cy="138989"/>
          </a:xfrm>
          <a:prstGeom prst="rect">
            <a:avLst/>
          </a:prstGeom>
          <a:solidFill>
            <a:srgbClr val="ED9571"/>
          </a:solidFill>
          <a:ln w="12700">
            <a:solidFill>
              <a:srgbClr val="ED95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61058" y="2214677"/>
            <a:ext cx="138989" cy="138989"/>
          </a:xfrm>
          <a:prstGeom prst="rect">
            <a:avLst/>
          </a:prstGeom>
          <a:solidFill>
            <a:srgbClr val="ED9571"/>
          </a:solidFill>
          <a:ln w="12700">
            <a:solidFill>
              <a:srgbClr val="ED957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18334" y="2214677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5611" y="2214677"/>
            <a:ext cx="138989" cy="138989"/>
          </a:xfrm>
          <a:prstGeom prst="rect">
            <a:avLst/>
          </a:prstGeom>
          <a:solidFill>
            <a:srgbClr val="ED936F"/>
          </a:solidFill>
          <a:ln w="12700">
            <a:solidFill>
              <a:srgbClr val="ED936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32888" y="2214677"/>
            <a:ext cx="138989" cy="138989"/>
          </a:xfrm>
          <a:prstGeom prst="rect">
            <a:avLst/>
          </a:prstGeom>
          <a:solidFill>
            <a:srgbClr val="ED9E7D"/>
          </a:solidFill>
          <a:ln w="12700">
            <a:solidFill>
              <a:srgbClr val="ED9E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0165" y="2214677"/>
            <a:ext cx="138989" cy="138989"/>
          </a:xfrm>
          <a:prstGeom prst="rect">
            <a:avLst/>
          </a:prstGeom>
          <a:solidFill>
            <a:srgbClr val="EDA080"/>
          </a:solidFill>
          <a:ln w="12700">
            <a:solidFill>
              <a:srgbClr val="EDA0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47442" y="2214677"/>
            <a:ext cx="138989" cy="138989"/>
          </a:xfrm>
          <a:prstGeom prst="rect">
            <a:avLst/>
          </a:prstGeom>
          <a:solidFill>
            <a:srgbClr val="EDAB8F"/>
          </a:solidFill>
          <a:ln w="12700">
            <a:solidFill>
              <a:srgbClr val="EDAB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04718" y="2214677"/>
            <a:ext cx="138989" cy="138989"/>
          </a:xfrm>
          <a:prstGeom prst="rect">
            <a:avLst/>
          </a:prstGeom>
          <a:solidFill>
            <a:srgbClr val="EEBDA8"/>
          </a:solidFill>
          <a:ln w="12700">
            <a:solidFill>
              <a:srgbClr val="EEBDA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61995" y="2214677"/>
            <a:ext cx="138989" cy="138989"/>
          </a:xfrm>
          <a:prstGeom prst="rect">
            <a:avLst/>
          </a:prstGeom>
          <a:solidFill>
            <a:srgbClr val="EFCDBD"/>
          </a:solidFill>
          <a:ln w="12700">
            <a:solidFill>
              <a:srgbClr val="EFCDB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19272" y="2214677"/>
            <a:ext cx="138989" cy="138989"/>
          </a:xfrm>
          <a:prstGeom prst="rect">
            <a:avLst/>
          </a:prstGeom>
          <a:solidFill>
            <a:srgbClr val="F0EEEB"/>
          </a:solidFill>
          <a:ln w="12700">
            <a:solidFill>
              <a:srgbClr val="F0EE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6549" y="2214677"/>
            <a:ext cx="138989" cy="138989"/>
          </a:xfrm>
          <a:prstGeom prst="rect">
            <a:avLst/>
          </a:prstGeom>
          <a:solidFill>
            <a:srgbClr val="F0EDE9"/>
          </a:solidFill>
          <a:ln w="12700">
            <a:solidFill>
              <a:srgbClr val="F0EDE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33826" y="2214677"/>
            <a:ext cx="138989" cy="138989"/>
          </a:xfrm>
          <a:prstGeom prst="rect">
            <a:avLst/>
          </a:prstGeom>
          <a:solidFill>
            <a:srgbClr val="EEEEEC"/>
          </a:solidFill>
          <a:ln w="12700">
            <a:solidFill>
              <a:srgbClr val="EEEE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91102" y="2214677"/>
            <a:ext cx="138989" cy="138989"/>
          </a:xfrm>
          <a:prstGeom prst="rect">
            <a:avLst/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48379" y="2214677"/>
            <a:ext cx="138989" cy="138989"/>
          </a:xfrm>
          <a:prstGeom prst="rect">
            <a:avLst/>
          </a:prstGeom>
          <a:solidFill>
            <a:srgbClr val="E4E8EB"/>
          </a:solidFill>
          <a:ln w="12700">
            <a:solidFill>
              <a:srgbClr val="E4E8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05656" y="2214677"/>
            <a:ext cx="138989" cy="138989"/>
          </a:xfrm>
          <a:prstGeom prst="rect">
            <a:avLst/>
          </a:prstGeom>
          <a:solidFill>
            <a:srgbClr val="DAE2EA"/>
          </a:solidFill>
          <a:ln w="12700">
            <a:solidFill>
              <a:srgbClr val="DAE2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62933" y="2214677"/>
            <a:ext cx="138989" cy="138989"/>
          </a:xfrm>
          <a:prstGeom prst="rect">
            <a:avLst/>
          </a:prstGeom>
          <a:solidFill>
            <a:srgbClr val="CFDBE8"/>
          </a:solidFill>
          <a:ln w="12700">
            <a:solidFill>
              <a:srgbClr val="CFDB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20210" y="2214677"/>
            <a:ext cx="138989" cy="138989"/>
          </a:xfrm>
          <a:prstGeom prst="rect">
            <a:avLst/>
          </a:prstGeom>
          <a:solidFill>
            <a:srgbClr val="DFE5EA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7486" y="2214677"/>
            <a:ext cx="138989" cy="138989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34763" y="2214677"/>
            <a:ext cx="138989" cy="138989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92040" y="2214677"/>
            <a:ext cx="138989" cy="138989"/>
          </a:xfrm>
          <a:prstGeom prst="rect">
            <a:avLst/>
          </a:prstGeom>
          <a:solidFill>
            <a:srgbClr val="D2DDE9"/>
          </a:solidFill>
          <a:ln w="12700">
            <a:solidFill>
              <a:srgbClr val="D2DDE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57200" y="2353666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274674" y="2371954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31950" y="2371954"/>
            <a:ext cx="138989" cy="138989"/>
          </a:xfrm>
          <a:prstGeom prst="rect">
            <a:avLst/>
          </a:prstGeom>
          <a:solidFill>
            <a:srgbClr val="EC7D51"/>
          </a:solidFill>
          <a:ln w="12700">
            <a:solidFill>
              <a:srgbClr val="EC7D5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89227" y="2371954"/>
            <a:ext cx="138989" cy="138989"/>
          </a:xfrm>
          <a:prstGeom prst="rect">
            <a:avLst/>
          </a:prstGeom>
          <a:solidFill>
            <a:srgbClr val="EC875E"/>
          </a:solidFill>
          <a:ln w="12700">
            <a:solidFill>
              <a:srgbClr val="EC875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46504" y="2371954"/>
            <a:ext cx="138989" cy="138989"/>
          </a:xfrm>
          <a:prstGeom prst="rect">
            <a:avLst/>
          </a:prstGeom>
          <a:solidFill>
            <a:srgbClr val="ED9B7A"/>
          </a:solidFill>
          <a:ln w="12700">
            <a:solidFill>
              <a:srgbClr val="ED9B7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903781" y="2371954"/>
            <a:ext cx="138989" cy="138989"/>
          </a:xfrm>
          <a:prstGeom prst="rect">
            <a:avLst/>
          </a:prstGeom>
          <a:solidFill>
            <a:srgbClr val="EDA98D"/>
          </a:solidFill>
          <a:ln w="12700">
            <a:solidFill>
              <a:srgbClr val="EDA98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61058" y="2371954"/>
            <a:ext cx="138989" cy="138989"/>
          </a:xfrm>
          <a:prstGeom prst="rect">
            <a:avLst/>
          </a:prstGeom>
          <a:solidFill>
            <a:srgbClr val="EDA688"/>
          </a:solidFill>
          <a:ln w="12700">
            <a:solidFill>
              <a:srgbClr val="EDA6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18334" y="2371954"/>
            <a:ext cx="138989" cy="138989"/>
          </a:xfrm>
          <a:prstGeom prst="rect">
            <a:avLst/>
          </a:prstGeom>
          <a:solidFill>
            <a:srgbClr val="EB6F3D"/>
          </a:solidFill>
          <a:ln w="12700">
            <a:solidFill>
              <a:srgbClr val="EB6F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5611" y="2371954"/>
            <a:ext cx="138989" cy="138989"/>
          </a:xfrm>
          <a:prstGeom prst="rect">
            <a:avLst/>
          </a:prstGeom>
          <a:solidFill>
            <a:srgbClr val="ED9F80"/>
          </a:solidFill>
          <a:ln w="12700">
            <a:solidFill>
              <a:srgbClr val="ED9F8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32888" y="2371954"/>
            <a:ext cx="138989" cy="138989"/>
          </a:xfrm>
          <a:prstGeom prst="rect">
            <a:avLst/>
          </a:prstGeom>
          <a:solidFill>
            <a:srgbClr val="EDAA8E"/>
          </a:solidFill>
          <a:ln w="12700">
            <a:solidFill>
              <a:srgbClr val="EDAA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90165" y="2371954"/>
            <a:ext cx="138989" cy="138989"/>
          </a:xfrm>
          <a:prstGeom prst="rect">
            <a:avLst/>
          </a:prstGeom>
          <a:solidFill>
            <a:srgbClr val="EDAB90"/>
          </a:solidFill>
          <a:ln w="12700">
            <a:solidFill>
              <a:srgbClr val="EDAB9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47442" y="2371954"/>
            <a:ext cx="138989" cy="138989"/>
          </a:xfrm>
          <a:prstGeom prst="rect">
            <a:avLst/>
          </a:prstGeom>
          <a:solidFill>
            <a:srgbClr val="EEB69F"/>
          </a:solidFill>
          <a:ln w="12700">
            <a:solidFill>
              <a:srgbClr val="EEB69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04718" y="2371954"/>
            <a:ext cx="138989" cy="138989"/>
          </a:xfrm>
          <a:prstGeom prst="rect">
            <a:avLst/>
          </a:prstGeom>
          <a:solidFill>
            <a:srgbClr val="EFC9B9"/>
          </a:solidFill>
          <a:ln w="12700">
            <a:solidFill>
              <a:srgbClr val="EFC9B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61995" y="2371954"/>
            <a:ext cx="138989" cy="138989"/>
          </a:xfrm>
          <a:prstGeom prst="rect">
            <a:avLst/>
          </a:prstGeom>
          <a:solidFill>
            <a:srgbClr val="EFDACF"/>
          </a:solidFill>
          <a:ln w="12700">
            <a:solidFill>
              <a:srgbClr val="EFDAC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19272" y="2371954"/>
            <a:ext cx="138989" cy="138989"/>
          </a:xfrm>
          <a:prstGeom prst="rect">
            <a:avLst/>
          </a:prstGeom>
          <a:solidFill>
            <a:srgbClr val="DBE3E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76549" y="2371954"/>
            <a:ext cx="138989" cy="138989"/>
          </a:xfrm>
          <a:prstGeom prst="rect">
            <a:avLst/>
          </a:prstGeom>
          <a:solidFill>
            <a:srgbClr val="DFE5EA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33826" y="2371954"/>
            <a:ext cx="138989" cy="138989"/>
          </a:xfrm>
          <a:prstGeom prst="rect">
            <a:avLst/>
          </a:prstGeom>
          <a:solidFill>
            <a:srgbClr val="DBE2EA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91102" y="2371954"/>
            <a:ext cx="138989" cy="138989"/>
          </a:xfrm>
          <a:prstGeom prst="rect">
            <a:avLst/>
          </a:prstGeom>
          <a:solidFill>
            <a:srgbClr val="DDE4EA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948379" y="2371954"/>
            <a:ext cx="138989" cy="138989"/>
          </a:xfrm>
          <a:prstGeom prst="rect">
            <a:avLst/>
          </a:prstGeom>
          <a:solidFill>
            <a:srgbClr val="D2DDE9"/>
          </a:solidFill>
          <a:ln w="12700">
            <a:solidFill>
              <a:srgbClr val="D2DDE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105656" y="2371954"/>
            <a:ext cx="138989" cy="138989"/>
          </a:xfrm>
          <a:prstGeom prst="rect">
            <a:avLst/>
          </a:prstGeom>
          <a:solidFill>
            <a:srgbClr val="C8D7E8"/>
          </a:solidFill>
          <a:ln w="12700">
            <a:solidFill>
              <a:srgbClr val="C8D7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62933" y="2371954"/>
            <a:ext cx="138989" cy="138989"/>
          </a:xfrm>
          <a:prstGeom prst="rect">
            <a:avLst/>
          </a:prstGeom>
          <a:solidFill>
            <a:srgbClr val="BDD1E6"/>
          </a:solidFill>
          <a:ln w="12700">
            <a:solidFill>
              <a:srgbClr val="BDD1E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420210" y="2371954"/>
            <a:ext cx="138989" cy="138989"/>
          </a:xfrm>
          <a:prstGeom prst="rect">
            <a:avLst/>
          </a:prstGeom>
          <a:solidFill>
            <a:srgbClr val="CFDBE8"/>
          </a:solidFill>
          <a:ln w="12700">
            <a:solidFill>
              <a:srgbClr val="CFDB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7486" y="2371954"/>
            <a:ext cx="138989" cy="138989"/>
          </a:xfrm>
          <a:prstGeom prst="rect">
            <a:avLst/>
          </a:prstGeom>
          <a:solidFill>
            <a:srgbClr val="CCDAE8"/>
          </a:solidFill>
          <a:ln w="12700">
            <a:solidFill>
              <a:srgbClr val="CCDAE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34763" y="2371954"/>
            <a:ext cx="138989" cy="138989"/>
          </a:xfrm>
          <a:prstGeom prst="rect">
            <a:avLst/>
          </a:prstGeom>
          <a:solidFill>
            <a:srgbClr val="C1D3E7"/>
          </a:solidFill>
          <a:ln w="12700">
            <a:solidFill>
              <a:srgbClr val="C1D3E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92040" y="2371954"/>
            <a:ext cx="138989" cy="138989"/>
          </a:xfrm>
          <a:prstGeom prst="rect">
            <a:avLst/>
          </a:prstGeom>
          <a:solidFill>
            <a:srgbClr val="C4D4E7"/>
          </a:solidFill>
          <a:ln w="12700">
            <a:solidFill>
              <a:srgbClr val="C4D4E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431950" y="2529230"/>
            <a:ext cx="138989" cy="138989"/>
          </a:xfrm>
          <a:prstGeom prst="rect">
            <a:avLst/>
          </a:prstGeom>
          <a:solidFill>
            <a:srgbClr val="B2C9E5"/>
          </a:solidFill>
          <a:ln w="12700">
            <a:solidFill>
              <a:srgbClr val="B2C9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589227" y="2529230"/>
            <a:ext cx="138989" cy="138989"/>
          </a:xfrm>
          <a:prstGeom prst="rect">
            <a:avLst/>
          </a:prstGeom>
          <a:solidFill>
            <a:srgbClr val="EFD8CC"/>
          </a:solidFill>
          <a:ln w="12700">
            <a:solidFill>
              <a:srgbClr val="EFD8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46504" y="2529230"/>
            <a:ext cx="138989" cy="138989"/>
          </a:xfrm>
          <a:prstGeom prst="rect">
            <a:avLst/>
          </a:prstGeom>
          <a:solidFill>
            <a:srgbClr val="EFD7CC"/>
          </a:solidFill>
          <a:ln w="12700">
            <a:solidFill>
              <a:srgbClr val="EFD7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03781" y="2529230"/>
            <a:ext cx="138989" cy="138989"/>
          </a:xfrm>
          <a:prstGeom prst="rect">
            <a:avLst/>
          </a:prstGeom>
          <a:solidFill>
            <a:srgbClr val="EFDBD1"/>
          </a:solidFill>
          <a:ln w="12700">
            <a:solidFill>
              <a:srgbClr val="EFDBD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061058" y="2529230"/>
            <a:ext cx="138989" cy="138989"/>
          </a:xfrm>
          <a:prstGeom prst="rect">
            <a:avLst/>
          </a:prstGeom>
          <a:solidFill>
            <a:srgbClr val="EFCCBD"/>
          </a:solidFill>
          <a:ln w="12700">
            <a:solidFill>
              <a:srgbClr val="EFCCB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218334" y="2529230"/>
            <a:ext cx="138989" cy="138989"/>
          </a:xfrm>
          <a:prstGeom prst="rect">
            <a:avLst/>
          </a:prstGeom>
          <a:solidFill>
            <a:srgbClr val="EC865D"/>
          </a:solidFill>
          <a:ln w="12700">
            <a:solidFill>
              <a:srgbClr val="EC865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375611" y="2529230"/>
            <a:ext cx="138989" cy="138989"/>
          </a:xfrm>
          <a:prstGeom prst="rect">
            <a:avLst/>
          </a:prstGeom>
          <a:solidFill>
            <a:srgbClr val="EEBAA3"/>
          </a:solidFill>
          <a:ln w="12700">
            <a:solidFill>
              <a:srgbClr val="EEBAA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32888" y="2529230"/>
            <a:ext cx="138989" cy="138989"/>
          </a:xfrm>
          <a:prstGeom prst="rect">
            <a:avLst/>
          </a:prstGeom>
          <a:solidFill>
            <a:srgbClr val="EEC3B0"/>
          </a:solidFill>
          <a:ln w="12700">
            <a:solidFill>
              <a:srgbClr val="EEC3B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690165" y="2529230"/>
            <a:ext cx="138989" cy="138989"/>
          </a:xfrm>
          <a:prstGeom prst="rect">
            <a:avLst/>
          </a:prstGeom>
          <a:solidFill>
            <a:srgbClr val="EEC2AE"/>
          </a:solidFill>
          <a:ln w="12700">
            <a:solidFill>
              <a:srgbClr val="EEC2A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847442" y="2529230"/>
            <a:ext cx="138989" cy="138989"/>
          </a:xfrm>
          <a:prstGeom prst="rect">
            <a:avLst/>
          </a:prstGeom>
          <a:solidFill>
            <a:srgbClr val="EFCCBC"/>
          </a:solidFill>
          <a:ln w="12700">
            <a:solidFill>
              <a:srgbClr val="EFCCB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04718" y="2529230"/>
            <a:ext cx="138989" cy="138989"/>
          </a:xfrm>
          <a:prstGeom prst="rect">
            <a:avLst/>
          </a:prstGeom>
          <a:solidFill>
            <a:srgbClr val="EFE0D7"/>
          </a:solidFill>
          <a:ln w="12700">
            <a:solidFill>
              <a:srgbClr val="EFE0D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61995" y="2529230"/>
            <a:ext cx="138989" cy="138989"/>
          </a:xfrm>
          <a:prstGeom prst="rect">
            <a:avLst/>
          </a:prstGeom>
          <a:solidFill>
            <a:srgbClr val="EFEEEC"/>
          </a:solidFill>
          <a:ln w="12700">
            <a:solidFill>
              <a:srgbClr val="EFEEE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19272" y="2529230"/>
            <a:ext cx="138989" cy="138989"/>
          </a:xfrm>
          <a:prstGeom prst="rect">
            <a:avLst/>
          </a:prstGeom>
          <a:solidFill>
            <a:srgbClr val="B7CDE6"/>
          </a:solidFill>
          <a:ln w="12700">
            <a:solidFill>
              <a:srgbClr val="B7CDE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76549" y="2529230"/>
            <a:ext cx="138989" cy="138989"/>
          </a:xfrm>
          <a:prstGeom prst="rect">
            <a:avLst/>
          </a:prstGeom>
          <a:solidFill>
            <a:srgbClr val="BED1E6"/>
          </a:solidFill>
          <a:ln w="12700">
            <a:solidFill>
              <a:srgbClr val="BED1E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633826" y="2529230"/>
            <a:ext cx="138989" cy="138989"/>
          </a:xfrm>
          <a:prstGeom prst="rect">
            <a:avLst/>
          </a:prstGeom>
          <a:solidFill>
            <a:srgbClr val="BBCFE6"/>
          </a:solidFill>
          <a:ln w="12700">
            <a:solidFill>
              <a:srgbClr val="BBCFE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91102" y="2529230"/>
            <a:ext cx="138989" cy="138989"/>
          </a:xfrm>
          <a:prstGeom prst="rect">
            <a:avLst/>
          </a:prstGeom>
          <a:solidFill>
            <a:srgbClr val="C0D2E7"/>
          </a:solidFill>
          <a:ln w="12700">
            <a:solidFill>
              <a:srgbClr val="C0D2E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48379" y="2529230"/>
            <a:ext cx="138989" cy="138989"/>
          </a:xfrm>
          <a:prstGeom prst="rect">
            <a:avLst/>
          </a:prstGeom>
          <a:solidFill>
            <a:srgbClr val="B6CCE6"/>
          </a:solidFill>
          <a:ln w="12700">
            <a:solidFill>
              <a:srgbClr val="B6CCE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105656" y="2529230"/>
            <a:ext cx="138989" cy="138989"/>
          </a:xfrm>
          <a:prstGeom prst="rect">
            <a:avLst/>
          </a:prstGeom>
          <a:solidFill>
            <a:srgbClr val="ACC6E4"/>
          </a:solidFill>
          <a:ln w="12700">
            <a:solidFill>
              <a:srgbClr val="ACC6E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62933" y="2529230"/>
            <a:ext cx="138989" cy="138989"/>
          </a:xfrm>
          <a:prstGeom prst="rect">
            <a:avLst/>
          </a:prstGeom>
          <a:solidFill>
            <a:srgbClr val="A3C0E3"/>
          </a:solidFill>
          <a:ln w="12700">
            <a:solidFill>
              <a:srgbClr val="A3C0E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420210" y="2529230"/>
            <a:ext cx="138989" cy="138989"/>
          </a:xfrm>
          <a:prstGeom prst="rect">
            <a:avLst/>
          </a:prstGeom>
          <a:solidFill>
            <a:srgbClr val="B7CDE6"/>
          </a:solidFill>
          <a:ln w="12700">
            <a:solidFill>
              <a:srgbClr val="B7CDE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577486" y="2529230"/>
            <a:ext cx="138989" cy="138989"/>
          </a:xfrm>
          <a:prstGeom prst="rect">
            <a:avLst/>
          </a:prstGeom>
          <a:solidFill>
            <a:srgbClr val="B5CCE5"/>
          </a:solidFill>
          <a:ln w="12700">
            <a:solidFill>
              <a:srgbClr val="B5CCE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34763" y="2529230"/>
            <a:ext cx="138989" cy="138989"/>
          </a:xfrm>
          <a:prstGeom prst="rect">
            <a:avLst/>
          </a:prstGeom>
          <a:solidFill>
            <a:srgbClr val="AAC5E4"/>
          </a:solidFill>
          <a:ln w="12700">
            <a:solidFill>
              <a:srgbClr val="AAC5E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892040" y="2529230"/>
            <a:ext cx="138989" cy="138989"/>
          </a:xfrm>
          <a:prstGeom prst="rect">
            <a:avLst/>
          </a:prstGeom>
          <a:solidFill>
            <a:srgbClr val="AEC7E5"/>
          </a:solidFill>
          <a:ln w="12700">
            <a:solidFill>
              <a:srgbClr val="AEC7E5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57200" y="2668219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589227" y="2686507"/>
            <a:ext cx="138989" cy="138989"/>
          </a:xfrm>
          <a:prstGeom prst="rect">
            <a:avLst/>
          </a:prstGeom>
          <a:solidFill>
            <a:srgbClr val="ED9673"/>
          </a:solidFill>
          <a:ln w="12700">
            <a:solidFill>
              <a:srgbClr val="ED967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746504" y="2686507"/>
            <a:ext cx="138989" cy="138989"/>
          </a:xfrm>
          <a:prstGeom prst="rect">
            <a:avLst/>
          </a:prstGeom>
          <a:solidFill>
            <a:srgbClr val="EEB69E"/>
          </a:solidFill>
          <a:ln w="12700">
            <a:solidFill>
              <a:srgbClr val="EEB69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903781" y="2686507"/>
            <a:ext cx="138989" cy="138989"/>
          </a:xfrm>
          <a:prstGeom prst="rect">
            <a:avLst/>
          </a:prstGeom>
          <a:solidFill>
            <a:srgbClr val="EEC5B3"/>
          </a:solidFill>
          <a:ln w="12700">
            <a:solidFill>
              <a:srgbClr val="EEC5B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061058" y="2686507"/>
            <a:ext cx="138989" cy="138989"/>
          </a:xfrm>
          <a:prstGeom prst="rect">
            <a:avLst/>
          </a:prstGeom>
          <a:solidFill>
            <a:srgbClr val="EEB8A2"/>
          </a:solidFill>
          <a:ln w="12700">
            <a:solidFill>
              <a:srgbClr val="EEB8A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218334" y="2686507"/>
            <a:ext cx="138989" cy="138989"/>
          </a:xfrm>
          <a:prstGeom prst="rect">
            <a:avLst/>
          </a:prstGeom>
          <a:solidFill>
            <a:srgbClr val="EB6835"/>
          </a:solidFill>
          <a:ln w="12700">
            <a:solidFill>
              <a:srgbClr val="EB683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375611" y="2686507"/>
            <a:ext cx="138989" cy="138989"/>
          </a:xfrm>
          <a:prstGeom prst="rect">
            <a:avLst/>
          </a:prstGeom>
          <a:solidFill>
            <a:srgbClr val="EDAA8E"/>
          </a:solidFill>
          <a:ln w="12700">
            <a:solidFill>
              <a:srgbClr val="EDAA8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532888" y="2686507"/>
            <a:ext cx="138989" cy="138989"/>
          </a:xfrm>
          <a:prstGeom prst="rect">
            <a:avLst/>
          </a:prstGeom>
          <a:solidFill>
            <a:srgbClr val="EEB69E"/>
          </a:solidFill>
          <a:ln w="12700">
            <a:solidFill>
              <a:srgbClr val="EEB69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690165" y="2686507"/>
            <a:ext cx="138989" cy="138989"/>
          </a:xfrm>
          <a:prstGeom prst="rect">
            <a:avLst/>
          </a:prstGeom>
          <a:solidFill>
            <a:srgbClr val="EEB69F"/>
          </a:solidFill>
          <a:ln w="12700">
            <a:solidFill>
              <a:srgbClr val="EEB69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847442" y="2686507"/>
            <a:ext cx="138989" cy="138989"/>
          </a:xfrm>
          <a:prstGeom prst="rect">
            <a:avLst/>
          </a:prstGeom>
          <a:solidFill>
            <a:srgbClr val="EEC3B0"/>
          </a:solidFill>
          <a:ln w="12700">
            <a:solidFill>
              <a:srgbClr val="EEC3B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004718" y="2686507"/>
            <a:ext cx="138989" cy="138989"/>
          </a:xfrm>
          <a:prstGeom prst="rect">
            <a:avLst/>
          </a:prstGeom>
          <a:solidFill>
            <a:srgbClr val="EFD9CE"/>
          </a:solidFill>
          <a:ln w="12700">
            <a:solidFill>
              <a:srgbClr val="EFD9C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161995" y="2686507"/>
            <a:ext cx="138989" cy="138989"/>
          </a:xfrm>
          <a:prstGeom prst="rect">
            <a:avLst/>
          </a:prstGeom>
          <a:solidFill>
            <a:srgbClr val="F0EBE7"/>
          </a:solidFill>
          <a:ln w="12700">
            <a:solidFill>
              <a:srgbClr val="F0EBE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319272" y="2686507"/>
            <a:ext cx="138989" cy="138989"/>
          </a:xfrm>
          <a:prstGeom prst="rect">
            <a:avLst/>
          </a:prstGeom>
          <a:solidFill>
            <a:srgbClr val="BACEE6"/>
          </a:solidFill>
          <a:ln w="12700">
            <a:solidFill>
              <a:srgbClr val="BACEE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476549" y="2686507"/>
            <a:ext cx="138989" cy="138989"/>
          </a:xfrm>
          <a:prstGeom prst="rect">
            <a:avLst/>
          </a:prstGeom>
          <a:solidFill>
            <a:srgbClr val="C1D3E7"/>
          </a:solidFill>
          <a:ln w="12700">
            <a:solidFill>
              <a:srgbClr val="C1D3E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633826" y="2686507"/>
            <a:ext cx="138989" cy="138989"/>
          </a:xfrm>
          <a:prstGeom prst="rect">
            <a:avLst/>
          </a:prstGeom>
          <a:solidFill>
            <a:srgbClr val="BED1E6"/>
          </a:solidFill>
          <a:ln w="12700">
            <a:solidFill>
              <a:srgbClr val="BED1E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791102" y="2686507"/>
            <a:ext cx="138989" cy="138989"/>
          </a:xfrm>
          <a:prstGeom prst="rect">
            <a:avLst/>
          </a:prstGeom>
          <a:solidFill>
            <a:srgbClr val="C3D4E7"/>
          </a:solidFill>
          <a:ln w="12700">
            <a:solidFill>
              <a:srgbClr val="C3D4E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48379" y="2686507"/>
            <a:ext cx="138989" cy="138989"/>
          </a:xfrm>
          <a:prstGeom prst="rect">
            <a:avLst/>
          </a:prstGeom>
          <a:solidFill>
            <a:srgbClr val="B8CDE6"/>
          </a:solidFill>
          <a:ln w="12700">
            <a:solidFill>
              <a:srgbClr val="B8CDE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105656" y="2686507"/>
            <a:ext cx="138989" cy="138989"/>
          </a:xfrm>
          <a:prstGeom prst="rect">
            <a:avLst/>
          </a:prstGeom>
          <a:solidFill>
            <a:srgbClr val="AEC7E5"/>
          </a:solidFill>
          <a:ln w="12700">
            <a:solidFill>
              <a:srgbClr val="AEC7E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262933" y="2686507"/>
            <a:ext cx="138989" cy="138989"/>
          </a:xfrm>
          <a:prstGeom prst="rect">
            <a:avLst/>
          </a:prstGeom>
          <a:solidFill>
            <a:srgbClr val="A3C1E3"/>
          </a:solidFill>
          <a:ln w="12700">
            <a:solidFill>
              <a:srgbClr val="A3C1E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420210" y="2686507"/>
            <a:ext cx="138989" cy="138989"/>
          </a:xfrm>
          <a:prstGeom prst="rect">
            <a:avLst/>
          </a:prstGeom>
          <a:solidFill>
            <a:srgbClr val="B9CEE6"/>
          </a:solidFill>
          <a:ln w="12700">
            <a:solidFill>
              <a:srgbClr val="B9CEE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77486" y="2686507"/>
            <a:ext cx="138989" cy="138989"/>
          </a:xfrm>
          <a:prstGeom prst="rect">
            <a:avLst/>
          </a:prstGeom>
          <a:solidFill>
            <a:srgbClr val="B7CCE6"/>
          </a:solidFill>
          <a:ln w="12700">
            <a:solidFill>
              <a:srgbClr val="B7CCE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34763" y="2686507"/>
            <a:ext cx="138989" cy="138989"/>
          </a:xfrm>
          <a:prstGeom prst="rect">
            <a:avLst/>
          </a:prstGeom>
          <a:solidFill>
            <a:srgbClr val="ABC5E4"/>
          </a:solidFill>
          <a:ln w="12700">
            <a:solidFill>
              <a:srgbClr val="ABC5E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892040" y="2686507"/>
            <a:ext cx="138989" cy="138989"/>
          </a:xfrm>
          <a:prstGeom prst="rect">
            <a:avLst/>
          </a:prstGeom>
          <a:solidFill>
            <a:srgbClr val="AFC8E5"/>
          </a:solidFill>
          <a:ln w="12700">
            <a:solidFill>
              <a:srgbClr val="AFC8E5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563624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1746504" y="2843784"/>
            <a:ext cx="138989" cy="138989"/>
          </a:xfrm>
          <a:prstGeom prst="rect">
            <a:avLst/>
          </a:prstGeom>
          <a:solidFill>
            <a:srgbClr val="EFD2C5"/>
          </a:solidFill>
          <a:ln w="12700">
            <a:solidFill>
              <a:srgbClr val="EFD2C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903781" y="2843784"/>
            <a:ext cx="138989" cy="138989"/>
          </a:xfrm>
          <a:prstGeom prst="rect">
            <a:avLst/>
          </a:prstGeom>
          <a:solidFill>
            <a:srgbClr val="EFDBD1"/>
          </a:solidFill>
          <a:ln w="12700">
            <a:solidFill>
              <a:srgbClr val="EFDBD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061058" y="2843784"/>
            <a:ext cx="138989" cy="138989"/>
          </a:xfrm>
          <a:prstGeom prst="rect">
            <a:avLst/>
          </a:prstGeom>
          <a:solidFill>
            <a:srgbClr val="EEC3B0"/>
          </a:solidFill>
          <a:ln w="12700">
            <a:solidFill>
              <a:srgbClr val="EEC3B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218334" y="2843784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375611" y="2843784"/>
            <a:ext cx="138989" cy="138989"/>
          </a:xfrm>
          <a:prstGeom prst="rect">
            <a:avLst/>
          </a:prstGeom>
          <a:solidFill>
            <a:srgbClr val="EEAD92"/>
          </a:solidFill>
          <a:ln w="12700">
            <a:solidFill>
              <a:srgbClr val="EEAD9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532888" y="2843784"/>
            <a:ext cx="138989" cy="138989"/>
          </a:xfrm>
          <a:prstGeom prst="rect">
            <a:avLst/>
          </a:prstGeom>
          <a:solidFill>
            <a:srgbClr val="EEBBA5"/>
          </a:solidFill>
          <a:ln w="12700">
            <a:solidFill>
              <a:srgbClr val="EEBBA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690165" y="2843784"/>
            <a:ext cx="138989" cy="138989"/>
          </a:xfrm>
          <a:prstGeom prst="rect">
            <a:avLst/>
          </a:prstGeom>
          <a:solidFill>
            <a:srgbClr val="EEBAA4"/>
          </a:solidFill>
          <a:ln w="12700">
            <a:solidFill>
              <a:srgbClr val="EEBAA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847442" y="2843784"/>
            <a:ext cx="138989" cy="138989"/>
          </a:xfrm>
          <a:prstGeom prst="rect">
            <a:avLst/>
          </a:prstGeom>
          <a:solidFill>
            <a:srgbClr val="EFC8B7"/>
          </a:solidFill>
          <a:ln w="12700">
            <a:solidFill>
              <a:srgbClr val="EFC8B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004718" y="2843784"/>
            <a:ext cx="138989" cy="138989"/>
          </a:xfrm>
          <a:prstGeom prst="rect">
            <a:avLst/>
          </a:prstGeom>
          <a:solidFill>
            <a:srgbClr val="EFE0D8"/>
          </a:solidFill>
          <a:ln w="12700">
            <a:solidFill>
              <a:srgbClr val="EFE0D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161995" y="2843784"/>
            <a:ext cx="138989" cy="138989"/>
          </a:xfrm>
          <a:prstGeom prst="rect">
            <a:avLst/>
          </a:prstGeom>
          <a:solidFill>
            <a:srgbClr val="E9EBEB"/>
          </a:solidFill>
          <a:ln w="12700">
            <a:solidFill>
              <a:srgbClr val="E9EBE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319272" y="2843784"/>
            <a:ext cx="138989" cy="138989"/>
          </a:xfrm>
          <a:prstGeom prst="rect">
            <a:avLst/>
          </a:prstGeom>
          <a:solidFill>
            <a:srgbClr val="A8C4E4"/>
          </a:solidFill>
          <a:ln w="12700">
            <a:solidFill>
              <a:srgbClr val="A8C4E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476549" y="2843784"/>
            <a:ext cx="138989" cy="138989"/>
          </a:xfrm>
          <a:prstGeom prst="rect">
            <a:avLst/>
          </a:prstGeom>
          <a:solidFill>
            <a:srgbClr val="B2C9E5"/>
          </a:solidFill>
          <a:ln w="12700">
            <a:solidFill>
              <a:srgbClr val="B2C9E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633826" y="2843784"/>
            <a:ext cx="138989" cy="138989"/>
          </a:xfrm>
          <a:prstGeom prst="rect">
            <a:avLst/>
          </a:prstGeom>
          <a:solidFill>
            <a:srgbClr val="AFC8E5"/>
          </a:solidFill>
          <a:ln w="12700">
            <a:solidFill>
              <a:srgbClr val="AFC8E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791102" y="2843784"/>
            <a:ext cx="138989" cy="138989"/>
          </a:xfrm>
          <a:prstGeom prst="rect">
            <a:avLst/>
          </a:prstGeom>
          <a:solidFill>
            <a:srgbClr val="B6CCE6"/>
          </a:solidFill>
          <a:ln w="12700">
            <a:solidFill>
              <a:srgbClr val="B6CCE6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948379" y="2843784"/>
            <a:ext cx="138989" cy="138989"/>
          </a:xfrm>
          <a:prstGeom prst="rect">
            <a:avLst/>
          </a:prstGeom>
          <a:solidFill>
            <a:srgbClr val="ABC5E4"/>
          </a:solidFill>
          <a:ln w="12700">
            <a:solidFill>
              <a:srgbClr val="ABC5E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105656" y="2843784"/>
            <a:ext cx="138989" cy="138989"/>
          </a:xfrm>
          <a:prstGeom prst="rect">
            <a:avLst/>
          </a:prstGeom>
          <a:solidFill>
            <a:srgbClr val="A1BFE3"/>
          </a:solidFill>
          <a:ln w="12700">
            <a:solidFill>
              <a:srgbClr val="A1BFE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262933" y="2843784"/>
            <a:ext cx="138989" cy="138989"/>
          </a:xfrm>
          <a:prstGeom prst="rect">
            <a:avLst/>
          </a:prstGeom>
          <a:solidFill>
            <a:srgbClr val="96B9E2"/>
          </a:solidFill>
          <a:ln w="12700">
            <a:solidFill>
              <a:srgbClr val="96B9E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420210" y="2843784"/>
            <a:ext cx="138989" cy="138989"/>
          </a:xfrm>
          <a:prstGeom prst="rect">
            <a:avLst/>
          </a:prstGeom>
          <a:solidFill>
            <a:srgbClr val="AEC7E5"/>
          </a:solidFill>
          <a:ln w="12700">
            <a:solidFill>
              <a:srgbClr val="AEC7E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577486" y="2843784"/>
            <a:ext cx="138989" cy="138989"/>
          </a:xfrm>
          <a:prstGeom prst="rect">
            <a:avLst/>
          </a:prstGeom>
          <a:solidFill>
            <a:srgbClr val="ACC6E4"/>
          </a:solidFill>
          <a:ln w="12700">
            <a:solidFill>
              <a:srgbClr val="ACC6E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734763" y="2843784"/>
            <a:ext cx="138989" cy="138989"/>
          </a:xfrm>
          <a:prstGeom prst="rect">
            <a:avLst/>
          </a:prstGeom>
          <a:solidFill>
            <a:srgbClr val="A0BFE3"/>
          </a:solidFill>
          <a:ln w="12700">
            <a:solidFill>
              <a:srgbClr val="A0BFE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892040" y="2843784"/>
            <a:ext cx="138989" cy="138989"/>
          </a:xfrm>
          <a:prstGeom prst="rect">
            <a:avLst/>
          </a:prstGeom>
          <a:solidFill>
            <a:srgbClr val="A5C2E4"/>
          </a:solidFill>
          <a:ln w="12700">
            <a:solidFill>
              <a:srgbClr val="A5C2E4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457200" y="2982773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1903781" y="3001061"/>
            <a:ext cx="138989" cy="138989"/>
          </a:xfrm>
          <a:prstGeom prst="rect">
            <a:avLst/>
          </a:prstGeom>
          <a:solidFill>
            <a:srgbClr val="EFE0D8"/>
          </a:solidFill>
          <a:ln w="12700">
            <a:solidFill>
              <a:srgbClr val="EFE0D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061058" y="3001061"/>
            <a:ext cx="138989" cy="138989"/>
          </a:xfrm>
          <a:prstGeom prst="rect">
            <a:avLst/>
          </a:prstGeom>
          <a:solidFill>
            <a:srgbClr val="EEB9A2"/>
          </a:solidFill>
          <a:ln w="12700">
            <a:solidFill>
              <a:srgbClr val="EEB9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218334" y="3001061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375611" y="3001061"/>
            <a:ext cx="138989" cy="138989"/>
          </a:xfrm>
          <a:prstGeom prst="rect">
            <a:avLst/>
          </a:prstGeom>
          <a:solidFill>
            <a:srgbClr val="EDA384"/>
          </a:solidFill>
          <a:ln w="12700">
            <a:solidFill>
              <a:srgbClr val="EDA38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532888" y="3001061"/>
            <a:ext cx="138989" cy="138989"/>
          </a:xfrm>
          <a:prstGeom prst="rect">
            <a:avLst/>
          </a:prstGeom>
          <a:solidFill>
            <a:srgbClr val="EEB59D"/>
          </a:solidFill>
          <a:ln w="12700">
            <a:solidFill>
              <a:srgbClr val="EEB59D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690165" y="3001061"/>
            <a:ext cx="138989" cy="138989"/>
          </a:xfrm>
          <a:prstGeom prst="rect">
            <a:avLst/>
          </a:prstGeom>
          <a:solidFill>
            <a:srgbClr val="EEB69E"/>
          </a:solidFill>
          <a:ln w="12700">
            <a:solidFill>
              <a:srgbClr val="EEB69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847442" y="3001061"/>
            <a:ext cx="138989" cy="138989"/>
          </a:xfrm>
          <a:prstGeom prst="rect">
            <a:avLst/>
          </a:prstGeom>
          <a:solidFill>
            <a:srgbClr val="EEC6B4"/>
          </a:solidFill>
          <a:ln w="12700">
            <a:solidFill>
              <a:srgbClr val="EEC6B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004718" y="3001061"/>
            <a:ext cx="138989" cy="138989"/>
          </a:xfrm>
          <a:prstGeom prst="rect">
            <a:avLst/>
          </a:prstGeom>
          <a:solidFill>
            <a:srgbClr val="EFE1D9"/>
          </a:solidFill>
          <a:ln w="12700">
            <a:solidFill>
              <a:srgbClr val="EFE1D9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161995" y="3001061"/>
            <a:ext cx="138989" cy="138989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319272" y="3001061"/>
            <a:ext cx="138989" cy="138989"/>
          </a:xfrm>
          <a:prstGeom prst="rect">
            <a:avLst/>
          </a:prstGeom>
          <a:solidFill>
            <a:srgbClr val="9EBEE3"/>
          </a:solidFill>
          <a:ln w="12700">
            <a:solidFill>
              <a:srgbClr val="9EBEE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476549" y="3001061"/>
            <a:ext cx="138989" cy="138989"/>
          </a:xfrm>
          <a:prstGeom prst="rect">
            <a:avLst/>
          </a:prstGeom>
          <a:solidFill>
            <a:srgbClr val="A9C4E4"/>
          </a:solidFill>
          <a:ln w="12700">
            <a:solidFill>
              <a:srgbClr val="A9C4E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633826" y="3001061"/>
            <a:ext cx="138989" cy="138989"/>
          </a:xfrm>
          <a:prstGeom prst="rect">
            <a:avLst/>
          </a:prstGeom>
          <a:solidFill>
            <a:srgbClr val="A7C3E4"/>
          </a:solidFill>
          <a:ln w="12700">
            <a:solidFill>
              <a:srgbClr val="A7C3E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791102" y="3001061"/>
            <a:ext cx="138989" cy="138989"/>
          </a:xfrm>
          <a:prstGeom prst="rect">
            <a:avLst/>
          </a:prstGeom>
          <a:solidFill>
            <a:srgbClr val="AFC8E5"/>
          </a:solidFill>
          <a:ln w="12700">
            <a:solidFill>
              <a:srgbClr val="AFC8E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948379" y="3001061"/>
            <a:ext cx="138989" cy="138989"/>
          </a:xfrm>
          <a:prstGeom prst="rect">
            <a:avLst/>
          </a:prstGeom>
          <a:solidFill>
            <a:srgbClr val="A4C1E4"/>
          </a:solidFill>
          <a:ln w="12700">
            <a:solidFill>
              <a:srgbClr val="A4C1E4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105656" y="3001061"/>
            <a:ext cx="138989" cy="138989"/>
          </a:xfrm>
          <a:prstGeom prst="rect">
            <a:avLst/>
          </a:prstGeom>
          <a:solidFill>
            <a:srgbClr val="99BBE2"/>
          </a:solidFill>
          <a:ln w="12700">
            <a:solidFill>
              <a:srgbClr val="99BBE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262933" y="3001061"/>
            <a:ext cx="138989" cy="138989"/>
          </a:xfrm>
          <a:prstGeom prst="rect">
            <a:avLst/>
          </a:prstGeom>
          <a:solidFill>
            <a:srgbClr val="8FB4E1"/>
          </a:solidFill>
          <a:ln w="12700">
            <a:solidFill>
              <a:srgbClr val="8FB4E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420210" y="3001061"/>
            <a:ext cx="138989" cy="138989"/>
          </a:xfrm>
          <a:prstGeom prst="rect">
            <a:avLst/>
          </a:prstGeom>
          <a:solidFill>
            <a:srgbClr val="A8C4E4"/>
          </a:solidFill>
          <a:ln w="12700">
            <a:solidFill>
              <a:srgbClr val="A8C4E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77486" y="3001061"/>
            <a:ext cx="138989" cy="138989"/>
          </a:xfrm>
          <a:prstGeom prst="rect">
            <a:avLst/>
          </a:prstGeom>
          <a:solidFill>
            <a:srgbClr val="A7C3E4"/>
          </a:solidFill>
          <a:ln w="12700">
            <a:solidFill>
              <a:srgbClr val="A7C3E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734763" y="3001061"/>
            <a:ext cx="138989" cy="138989"/>
          </a:xfrm>
          <a:prstGeom prst="rect">
            <a:avLst/>
          </a:prstGeom>
          <a:solidFill>
            <a:srgbClr val="9ABBE2"/>
          </a:solidFill>
          <a:ln w="12700">
            <a:solidFill>
              <a:srgbClr val="9ABBE2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892040" y="3001061"/>
            <a:ext cx="138989" cy="138989"/>
          </a:xfrm>
          <a:prstGeom prst="rect">
            <a:avLst/>
          </a:prstGeom>
          <a:solidFill>
            <a:srgbClr val="A0BFE3"/>
          </a:solidFill>
          <a:ln w="12700">
            <a:solidFill>
              <a:srgbClr val="A0BFE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061058" y="3158338"/>
            <a:ext cx="138989" cy="138989"/>
          </a:xfrm>
          <a:prstGeom prst="rect">
            <a:avLst/>
          </a:prstGeom>
          <a:solidFill>
            <a:srgbClr val="EC8F6A"/>
          </a:solidFill>
          <a:ln w="12700">
            <a:solidFill>
              <a:srgbClr val="EC8F6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218334" y="3158338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75611" y="3158338"/>
            <a:ext cx="138989" cy="138989"/>
          </a:xfrm>
          <a:prstGeom prst="rect">
            <a:avLst/>
          </a:prstGeom>
          <a:solidFill>
            <a:srgbClr val="EC8D67"/>
          </a:solidFill>
          <a:ln w="12700">
            <a:solidFill>
              <a:srgbClr val="EC8D67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532888" y="3158338"/>
            <a:ext cx="138989" cy="138989"/>
          </a:xfrm>
          <a:prstGeom prst="rect">
            <a:avLst/>
          </a:prstGeom>
          <a:solidFill>
            <a:srgbClr val="EDAA8D"/>
          </a:solidFill>
          <a:ln w="12700">
            <a:solidFill>
              <a:srgbClr val="EDAA8D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690165" y="3158338"/>
            <a:ext cx="138989" cy="138989"/>
          </a:xfrm>
          <a:prstGeom prst="rect">
            <a:avLst/>
          </a:prstGeom>
          <a:solidFill>
            <a:srgbClr val="EEAD91"/>
          </a:solidFill>
          <a:ln w="12700">
            <a:solidFill>
              <a:srgbClr val="EEAD9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847442" y="3158338"/>
            <a:ext cx="138989" cy="138989"/>
          </a:xfrm>
          <a:prstGeom prst="rect">
            <a:avLst/>
          </a:prstGeom>
          <a:solidFill>
            <a:srgbClr val="EEC0AC"/>
          </a:solidFill>
          <a:ln w="12700">
            <a:solidFill>
              <a:srgbClr val="EEC0A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004718" y="3158338"/>
            <a:ext cx="138989" cy="138989"/>
          </a:xfrm>
          <a:prstGeom prst="rect">
            <a:avLst/>
          </a:prstGeom>
          <a:solidFill>
            <a:srgbClr val="EFE0D8"/>
          </a:solidFill>
          <a:ln w="12700">
            <a:solidFill>
              <a:srgbClr val="EFE0D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161995" y="3158338"/>
            <a:ext cx="138989" cy="138989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319272" y="3158338"/>
            <a:ext cx="138989" cy="138989"/>
          </a:xfrm>
          <a:prstGeom prst="rect">
            <a:avLst/>
          </a:prstGeom>
          <a:solidFill>
            <a:srgbClr val="94B7E2"/>
          </a:solidFill>
          <a:ln w="12700">
            <a:solidFill>
              <a:srgbClr val="94B7E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476549" y="3158338"/>
            <a:ext cx="138989" cy="138989"/>
          </a:xfrm>
          <a:prstGeom prst="rect">
            <a:avLst/>
          </a:prstGeom>
          <a:solidFill>
            <a:srgbClr val="A1BFE3"/>
          </a:solidFill>
          <a:ln w="12700">
            <a:solidFill>
              <a:srgbClr val="A1BFE3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633826" y="3158338"/>
            <a:ext cx="138989" cy="138989"/>
          </a:xfrm>
          <a:prstGeom prst="rect">
            <a:avLst/>
          </a:prstGeom>
          <a:solidFill>
            <a:srgbClr val="A0BFE3"/>
          </a:solidFill>
          <a:ln w="12700">
            <a:solidFill>
              <a:srgbClr val="A0BFE3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791102" y="3158338"/>
            <a:ext cx="138989" cy="138989"/>
          </a:xfrm>
          <a:prstGeom prst="rect">
            <a:avLst/>
          </a:prstGeom>
          <a:solidFill>
            <a:srgbClr val="A9C4E4"/>
          </a:solidFill>
          <a:ln w="12700">
            <a:solidFill>
              <a:srgbClr val="A9C4E4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948379" y="3158338"/>
            <a:ext cx="138989" cy="138989"/>
          </a:xfrm>
          <a:prstGeom prst="rect">
            <a:avLst/>
          </a:prstGeom>
          <a:solidFill>
            <a:srgbClr val="9DBDE3"/>
          </a:solidFill>
          <a:ln w="12700">
            <a:solidFill>
              <a:srgbClr val="9DBDE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105656" y="3158338"/>
            <a:ext cx="138989" cy="138989"/>
          </a:xfrm>
          <a:prstGeom prst="rect">
            <a:avLst/>
          </a:prstGeom>
          <a:solidFill>
            <a:srgbClr val="93B7E2"/>
          </a:solidFill>
          <a:ln w="12700">
            <a:solidFill>
              <a:srgbClr val="93B7E2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262933" y="3158338"/>
            <a:ext cx="138989" cy="138989"/>
          </a:xfrm>
          <a:prstGeom prst="rect">
            <a:avLst/>
          </a:prstGeom>
          <a:solidFill>
            <a:srgbClr val="87B0E0"/>
          </a:solidFill>
          <a:ln w="12700">
            <a:solidFill>
              <a:srgbClr val="87B0E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4420210" y="3158338"/>
            <a:ext cx="138989" cy="138989"/>
          </a:xfrm>
          <a:prstGeom prst="rect">
            <a:avLst/>
          </a:prstGeom>
          <a:solidFill>
            <a:srgbClr val="A3C1E3"/>
          </a:solidFill>
          <a:ln w="12700">
            <a:solidFill>
              <a:srgbClr val="A3C1E3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577486" y="3158338"/>
            <a:ext cx="138989" cy="138989"/>
          </a:xfrm>
          <a:prstGeom prst="rect">
            <a:avLst/>
          </a:prstGeom>
          <a:solidFill>
            <a:srgbClr val="A2C0E3"/>
          </a:solidFill>
          <a:ln w="12700">
            <a:solidFill>
              <a:srgbClr val="A2C0E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734763" y="3158338"/>
            <a:ext cx="138989" cy="138989"/>
          </a:xfrm>
          <a:prstGeom prst="rect">
            <a:avLst/>
          </a:prstGeom>
          <a:solidFill>
            <a:srgbClr val="95B8E2"/>
          </a:solidFill>
          <a:ln w="12700">
            <a:solidFill>
              <a:srgbClr val="95B8E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892040" y="3158338"/>
            <a:ext cx="138989" cy="138989"/>
          </a:xfrm>
          <a:prstGeom prst="rect">
            <a:avLst/>
          </a:prstGeom>
          <a:solidFill>
            <a:srgbClr val="9BBCE3"/>
          </a:solidFill>
          <a:ln w="12700">
            <a:solidFill>
              <a:srgbClr val="9BBCE3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457200" y="3297326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2218334" y="3315614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375611" y="3315614"/>
            <a:ext cx="138989" cy="138989"/>
          </a:xfrm>
          <a:prstGeom prst="rect">
            <a:avLst/>
          </a:prstGeom>
          <a:solidFill>
            <a:srgbClr val="EC8A63"/>
          </a:solidFill>
          <a:ln w="12700">
            <a:solidFill>
              <a:srgbClr val="EC8A63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532888" y="3315614"/>
            <a:ext cx="138989" cy="138989"/>
          </a:xfrm>
          <a:prstGeom prst="rect">
            <a:avLst/>
          </a:prstGeom>
          <a:solidFill>
            <a:srgbClr val="EEB198"/>
          </a:solidFill>
          <a:ln w="12700">
            <a:solidFill>
              <a:srgbClr val="EEB19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690165" y="3315614"/>
            <a:ext cx="138989" cy="138989"/>
          </a:xfrm>
          <a:prstGeom prst="rect">
            <a:avLst/>
          </a:prstGeom>
          <a:solidFill>
            <a:srgbClr val="EEB39A"/>
          </a:solidFill>
          <a:ln w="12700">
            <a:solidFill>
              <a:srgbClr val="EEB39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847442" y="3315614"/>
            <a:ext cx="138989" cy="138989"/>
          </a:xfrm>
          <a:prstGeom prst="rect">
            <a:avLst/>
          </a:prstGeom>
          <a:solidFill>
            <a:srgbClr val="EFCAB9"/>
          </a:solidFill>
          <a:ln w="12700">
            <a:solidFill>
              <a:srgbClr val="EFCAB9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004718" y="3315614"/>
            <a:ext cx="138989" cy="138989"/>
          </a:xfrm>
          <a:prstGeom prst="rect">
            <a:avLst/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161995" y="3315614"/>
            <a:ext cx="138989" cy="138989"/>
          </a:xfrm>
          <a:prstGeom prst="rect">
            <a:avLst/>
          </a:prstGeom>
          <a:solidFill>
            <a:srgbClr val="CCD9E8"/>
          </a:solidFill>
          <a:ln w="12700">
            <a:solidFill>
              <a:srgbClr val="CCD9E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319272" y="3315614"/>
            <a:ext cx="138989" cy="138989"/>
          </a:xfrm>
          <a:prstGeom prst="rect">
            <a:avLst/>
          </a:prstGeom>
          <a:solidFill>
            <a:srgbClr val="74A5DE"/>
          </a:solidFill>
          <a:ln w="12700">
            <a:solidFill>
              <a:srgbClr val="74A5DE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476549" y="3315614"/>
            <a:ext cx="138989" cy="138989"/>
          </a:xfrm>
          <a:prstGeom prst="rect">
            <a:avLst/>
          </a:prstGeom>
          <a:solidFill>
            <a:srgbClr val="87B0E0"/>
          </a:solidFill>
          <a:ln w="12700">
            <a:solidFill>
              <a:srgbClr val="87B0E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633826" y="3315614"/>
            <a:ext cx="138989" cy="138989"/>
          </a:xfrm>
          <a:prstGeom prst="rect">
            <a:avLst/>
          </a:prstGeom>
          <a:solidFill>
            <a:srgbClr val="89B1E1"/>
          </a:solidFill>
          <a:ln w="12700">
            <a:solidFill>
              <a:srgbClr val="89B1E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791102" y="3315614"/>
            <a:ext cx="138989" cy="138989"/>
          </a:xfrm>
          <a:prstGeom prst="rect">
            <a:avLst/>
          </a:prstGeom>
          <a:solidFill>
            <a:srgbClr val="95B8E2"/>
          </a:solidFill>
          <a:ln w="12700">
            <a:solidFill>
              <a:srgbClr val="95B8E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948379" y="3315614"/>
            <a:ext cx="138989" cy="138989"/>
          </a:xfrm>
          <a:prstGeom prst="rect">
            <a:avLst/>
          </a:prstGeom>
          <a:solidFill>
            <a:srgbClr val="89B1E1"/>
          </a:solidFill>
          <a:ln w="12700">
            <a:solidFill>
              <a:srgbClr val="89B1E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105656" y="3315614"/>
            <a:ext cx="138989" cy="138989"/>
          </a:xfrm>
          <a:prstGeom prst="rect">
            <a:avLst/>
          </a:prstGeom>
          <a:solidFill>
            <a:srgbClr val="7FABDF"/>
          </a:solidFill>
          <a:ln w="12700">
            <a:solidFill>
              <a:srgbClr val="7FABD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262933" y="3315614"/>
            <a:ext cx="138989" cy="138989"/>
          </a:xfrm>
          <a:prstGeom prst="rect">
            <a:avLst/>
          </a:prstGeom>
          <a:solidFill>
            <a:srgbClr val="75A5DE"/>
          </a:solidFill>
          <a:ln w="12700">
            <a:solidFill>
              <a:srgbClr val="75A5D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420210" y="3315614"/>
            <a:ext cx="138989" cy="138989"/>
          </a:xfrm>
          <a:prstGeom prst="rect">
            <a:avLst/>
          </a:prstGeom>
          <a:solidFill>
            <a:srgbClr val="94B8E2"/>
          </a:solidFill>
          <a:ln w="12700">
            <a:solidFill>
              <a:srgbClr val="94B8E2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577486" y="3315614"/>
            <a:ext cx="138989" cy="138989"/>
          </a:xfrm>
          <a:prstGeom prst="rect">
            <a:avLst/>
          </a:prstGeom>
          <a:solidFill>
            <a:srgbClr val="93B7E2"/>
          </a:solidFill>
          <a:ln w="12700">
            <a:solidFill>
              <a:srgbClr val="93B7E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734763" y="3315614"/>
            <a:ext cx="138989" cy="138989"/>
          </a:xfrm>
          <a:prstGeom prst="rect">
            <a:avLst/>
          </a:prstGeom>
          <a:solidFill>
            <a:srgbClr val="86B0E0"/>
          </a:solidFill>
          <a:ln w="12700">
            <a:solidFill>
              <a:srgbClr val="86B0E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892040" y="3315614"/>
            <a:ext cx="138989" cy="138989"/>
          </a:xfrm>
          <a:prstGeom prst="rect">
            <a:avLst/>
          </a:prstGeom>
          <a:solidFill>
            <a:srgbClr val="8EB4E1"/>
          </a:solidFill>
          <a:ln w="12700">
            <a:solidFill>
              <a:srgbClr val="8EB4E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375611" y="3472891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532888" y="3472891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690165" y="3472891"/>
            <a:ext cx="138989" cy="138989"/>
          </a:xfrm>
          <a:prstGeom prst="rect">
            <a:avLst/>
          </a:prstGeom>
          <a:solidFill>
            <a:srgbClr val="77A6DF"/>
          </a:solidFill>
          <a:ln w="12700">
            <a:solidFill>
              <a:srgbClr val="77A6D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847442" y="3472891"/>
            <a:ext cx="138989" cy="138989"/>
          </a:xfrm>
          <a:prstGeom prst="rect">
            <a:avLst/>
          </a:prstGeom>
          <a:solidFill>
            <a:srgbClr val="7EAADF"/>
          </a:solidFill>
          <a:ln w="12700">
            <a:solidFill>
              <a:srgbClr val="7EAADF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004718" y="3472891"/>
            <a:ext cx="138989" cy="138989"/>
          </a:xfrm>
          <a:prstGeom prst="rect">
            <a:avLst/>
          </a:prstGeom>
          <a:solidFill>
            <a:srgbClr val="5994DB"/>
          </a:solidFill>
          <a:ln w="12700">
            <a:solidFill>
              <a:srgbClr val="5994D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161995" y="3472891"/>
            <a:ext cx="138989" cy="138989"/>
          </a:xfrm>
          <a:prstGeom prst="rect">
            <a:avLst/>
          </a:prstGeom>
          <a:solidFill>
            <a:srgbClr val="4186D9"/>
          </a:solidFill>
          <a:ln w="12700">
            <a:solidFill>
              <a:srgbClr val="4186D9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3319272" y="3472891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476549" y="3472891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633826" y="3472891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791102" y="3472891"/>
            <a:ext cx="138989" cy="138989"/>
          </a:xfrm>
          <a:prstGeom prst="rect">
            <a:avLst/>
          </a:prstGeom>
          <a:solidFill>
            <a:srgbClr val="3880D8"/>
          </a:solidFill>
          <a:ln w="12700">
            <a:solidFill>
              <a:srgbClr val="3880D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948379" y="3472891"/>
            <a:ext cx="138989" cy="138989"/>
          </a:xfrm>
          <a:prstGeom prst="rect">
            <a:avLst/>
          </a:prstGeom>
          <a:solidFill>
            <a:srgbClr val="337ED7"/>
          </a:solidFill>
          <a:ln w="12700">
            <a:solidFill>
              <a:srgbClr val="337ED7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105656" y="3472891"/>
            <a:ext cx="138989" cy="138989"/>
          </a:xfrm>
          <a:prstGeom prst="rect">
            <a:avLst/>
          </a:prstGeom>
          <a:solidFill>
            <a:srgbClr val="2F7BD7"/>
          </a:solidFill>
          <a:ln w="12700">
            <a:solidFill>
              <a:srgbClr val="2F7BD7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262933" y="3472891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420210" y="3472891"/>
            <a:ext cx="138989" cy="138989"/>
          </a:xfrm>
          <a:prstGeom prst="rect">
            <a:avLst/>
          </a:prstGeom>
          <a:solidFill>
            <a:srgbClr val="5290DA"/>
          </a:solidFill>
          <a:ln w="12700">
            <a:solidFill>
              <a:srgbClr val="5290D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577486" y="3472891"/>
            <a:ext cx="138989" cy="138989"/>
          </a:xfrm>
          <a:prstGeom prst="rect">
            <a:avLst/>
          </a:prstGeom>
          <a:solidFill>
            <a:srgbClr val="5692DB"/>
          </a:solidFill>
          <a:ln w="12700">
            <a:solidFill>
              <a:srgbClr val="5692D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734763" y="3472891"/>
            <a:ext cx="138989" cy="138989"/>
          </a:xfrm>
          <a:prstGeom prst="rect">
            <a:avLst/>
          </a:prstGeom>
          <a:solidFill>
            <a:srgbClr val="4B8CDA"/>
          </a:solidFill>
          <a:ln w="12700">
            <a:solidFill>
              <a:srgbClr val="4B8CD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892040" y="3472891"/>
            <a:ext cx="138989" cy="138989"/>
          </a:xfrm>
          <a:prstGeom prst="rect">
            <a:avLst/>
          </a:prstGeom>
          <a:solidFill>
            <a:srgbClr val="5793DB"/>
          </a:solidFill>
          <a:ln w="12700">
            <a:solidFill>
              <a:srgbClr val="5793DB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457200" y="3611880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800" dirty="0"/>
          </a:p>
        </p:txBody>
      </p:sp>
      <p:sp>
        <p:nvSpPr>
          <p:cNvPr id="227" name="Text 225"/>
          <p:cNvSpPr txBox="1"/>
          <p:nvPr/>
        </p:nvSpPr>
        <p:spPr>
          <a:xfrm>
            <a:off x="2350008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800" dirty="0"/>
          </a:p>
        </p:txBody>
      </p:sp>
      <p:sp>
        <p:nvSpPr>
          <p:cNvPr id="228" name="Shape 226"/>
          <p:cNvSpPr/>
          <p:nvPr/>
        </p:nvSpPr>
        <p:spPr>
          <a:xfrm>
            <a:off x="2532888" y="3630168"/>
            <a:ext cx="138989" cy="138989"/>
          </a:xfrm>
          <a:prstGeom prst="rect">
            <a:avLst/>
          </a:prstGeom>
          <a:solidFill>
            <a:srgbClr val="DBE2EA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690165" y="3630168"/>
            <a:ext cx="138989" cy="138989"/>
          </a:xfrm>
          <a:prstGeom prst="rect">
            <a:avLst/>
          </a:prstGeom>
          <a:solidFill>
            <a:srgbClr val="EFDAD0"/>
          </a:solidFill>
          <a:ln w="12700">
            <a:solidFill>
              <a:srgbClr val="EFDAD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2847442" y="3630168"/>
            <a:ext cx="138989" cy="138989"/>
          </a:xfrm>
          <a:prstGeom prst="rect">
            <a:avLst/>
          </a:prstGeom>
          <a:solidFill>
            <a:srgbClr val="E8EAEB"/>
          </a:solidFill>
          <a:ln w="12700">
            <a:solidFill>
              <a:srgbClr val="E8EAE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3004718" y="3630168"/>
            <a:ext cx="138989" cy="138989"/>
          </a:xfrm>
          <a:prstGeom prst="rect">
            <a:avLst/>
          </a:prstGeom>
          <a:solidFill>
            <a:srgbClr val="A5C2E4"/>
          </a:solidFill>
          <a:ln w="12700">
            <a:solidFill>
              <a:srgbClr val="A5C2E4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3161995" y="3630168"/>
            <a:ext cx="138989" cy="138989"/>
          </a:xfrm>
          <a:prstGeom prst="rect">
            <a:avLst/>
          </a:prstGeom>
          <a:solidFill>
            <a:srgbClr val="7DAADF"/>
          </a:solidFill>
          <a:ln w="12700">
            <a:solidFill>
              <a:srgbClr val="7DAAD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3319272" y="3630168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3476549" y="3630168"/>
            <a:ext cx="138989" cy="138989"/>
          </a:xfrm>
          <a:prstGeom prst="rect">
            <a:avLst/>
          </a:prstGeom>
          <a:solidFill>
            <a:srgbClr val="367FD7"/>
          </a:solidFill>
          <a:ln w="12700">
            <a:solidFill>
              <a:srgbClr val="367FD7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3633826" y="3630168"/>
            <a:ext cx="138989" cy="138989"/>
          </a:xfrm>
          <a:prstGeom prst="rect">
            <a:avLst/>
          </a:prstGeom>
          <a:solidFill>
            <a:srgbClr val="4387D9"/>
          </a:solidFill>
          <a:ln w="12700">
            <a:solidFill>
              <a:srgbClr val="4387D9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3791102" y="3630168"/>
            <a:ext cx="138989" cy="138989"/>
          </a:xfrm>
          <a:prstGeom prst="rect">
            <a:avLst/>
          </a:prstGeom>
          <a:solidFill>
            <a:srgbClr val="5A95DB"/>
          </a:solidFill>
          <a:ln w="12700">
            <a:solidFill>
              <a:srgbClr val="5A95D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3948379" y="3630168"/>
            <a:ext cx="138989" cy="138989"/>
          </a:xfrm>
          <a:prstGeom prst="rect">
            <a:avLst/>
          </a:prstGeom>
          <a:solidFill>
            <a:srgbClr val="5290DA"/>
          </a:solidFill>
          <a:ln w="12700">
            <a:solidFill>
              <a:srgbClr val="5290D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105656" y="3630168"/>
            <a:ext cx="138989" cy="138989"/>
          </a:xfrm>
          <a:prstGeom prst="rect">
            <a:avLst/>
          </a:prstGeom>
          <a:solidFill>
            <a:srgbClr val="4B8CDA"/>
          </a:solidFill>
          <a:ln w="12700">
            <a:solidFill>
              <a:srgbClr val="4B8CDA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262933" y="3630168"/>
            <a:ext cx="138989" cy="138989"/>
          </a:xfrm>
          <a:prstGeom prst="rect">
            <a:avLst/>
          </a:prstGeom>
          <a:solidFill>
            <a:srgbClr val="4287D9"/>
          </a:solidFill>
          <a:ln w="12700">
            <a:solidFill>
              <a:srgbClr val="4287D9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420210" y="3630168"/>
            <a:ext cx="138989" cy="138989"/>
          </a:xfrm>
          <a:prstGeom prst="rect">
            <a:avLst/>
          </a:prstGeom>
          <a:solidFill>
            <a:srgbClr val="6C9FDD"/>
          </a:solidFill>
          <a:ln w="12700">
            <a:solidFill>
              <a:srgbClr val="6C9FDD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577486" y="3630168"/>
            <a:ext cx="138989" cy="138989"/>
          </a:xfrm>
          <a:prstGeom prst="rect">
            <a:avLst/>
          </a:prstGeom>
          <a:solidFill>
            <a:srgbClr val="6EA1DE"/>
          </a:solidFill>
          <a:ln w="12700">
            <a:solidFill>
              <a:srgbClr val="6EA1DE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734763" y="3630168"/>
            <a:ext cx="138989" cy="138989"/>
          </a:xfrm>
          <a:prstGeom prst="rect">
            <a:avLst/>
          </a:prstGeom>
          <a:solidFill>
            <a:srgbClr val="6199DC"/>
          </a:solidFill>
          <a:ln w="12700">
            <a:solidFill>
              <a:srgbClr val="6199DC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892040" y="3630168"/>
            <a:ext cx="138989" cy="138989"/>
          </a:xfrm>
          <a:prstGeom prst="rect">
            <a:avLst/>
          </a:prstGeom>
          <a:solidFill>
            <a:srgbClr val="6CA0DD"/>
          </a:solidFill>
          <a:ln w="12700">
            <a:solidFill>
              <a:srgbClr val="6CA0DD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690165" y="3787445"/>
            <a:ext cx="138989" cy="138989"/>
          </a:xfrm>
          <a:prstGeom prst="rect">
            <a:avLst/>
          </a:prstGeom>
          <a:solidFill>
            <a:srgbClr val="EEB49C"/>
          </a:solidFill>
          <a:ln w="12700">
            <a:solidFill>
              <a:srgbClr val="EEB49C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2847442" y="3787445"/>
            <a:ext cx="138989" cy="138989"/>
          </a:xfrm>
          <a:prstGeom prst="rect">
            <a:avLst/>
          </a:prstGeom>
          <a:solidFill>
            <a:srgbClr val="F0EDE9"/>
          </a:solidFill>
          <a:ln w="12700">
            <a:solidFill>
              <a:srgbClr val="F0EDE9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3004718" y="3787445"/>
            <a:ext cx="138989" cy="138989"/>
          </a:xfrm>
          <a:prstGeom prst="rect">
            <a:avLst/>
          </a:prstGeom>
          <a:solidFill>
            <a:srgbClr val="97B9E2"/>
          </a:solidFill>
          <a:ln w="12700">
            <a:solidFill>
              <a:srgbClr val="97B9E2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3161995" y="3787445"/>
            <a:ext cx="138989" cy="138989"/>
          </a:xfrm>
          <a:prstGeom prst="rect">
            <a:avLst/>
          </a:prstGeom>
          <a:solidFill>
            <a:srgbClr val="689DDD"/>
          </a:solidFill>
          <a:ln w="12700">
            <a:solidFill>
              <a:srgbClr val="689DDD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3319272" y="3787445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3476549" y="3787445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633826" y="3787445"/>
            <a:ext cx="138989" cy="138989"/>
          </a:xfrm>
          <a:prstGeom prst="rect">
            <a:avLst/>
          </a:prstGeom>
          <a:solidFill>
            <a:srgbClr val="2F7BD7"/>
          </a:solidFill>
          <a:ln w="12700">
            <a:solidFill>
              <a:srgbClr val="2F7BD7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3791102" y="3787445"/>
            <a:ext cx="138989" cy="138989"/>
          </a:xfrm>
          <a:prstGeom prst="rect">
            <a:avLst/>
          </a:prstGeom>
          <a:solidFill>
            <a:srgbClr val="4C8CDA"/>
          </a:solidFill>
          <a:ln w="12700">
            <a:solidFill>
              <a:srgbClr val="4C8CD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3948379" y="3787445"/>
            <a:ext cx="138989" cy="138989"/>
          </a:xfrm>
          <a:prstGeom prst="rect">
            <a:avLst/>
          </a:prstGeom>
          <a:solidFill>
            <a:srgbClr val="4488D9"/>
          </a:solidFill>
          <a:ln w="12700">
            <a:solidFill>
              <a:srgbClr val="4488D9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105656" y="3787445"/>
            <a:ext cx="138989" cy="138989"/>
          </a:xfrm>
          <a:prstGeom prst="rect">
            <a:avLst/>
          </a:prstGeom>
          <a:solidFill>
            <a:srgbClr val="3E84D8"/>
          </a:solidFill>
          <a:ln w="12700">
            <a:solidFill>
              <a:srgbClr val="3E84D8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262933" y="3787445"/>
            <a:ext cx="138989" cy="138989"/>
          </a:xfrm>
          <a:prstGeom prst="rect">
            <a:avLst/>
          </a:prstGeom>
          <a:solidFill>
            <a:srgbClr val="367FD7"/>
          </a:solidFill>
          <a:ln w="12700">
            <a:solidFill>
              <a:srgbClr val="367FD7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420210" y="3787445"/>
            <a:ext cx="138989" cy="138989"/>
          </a:xfrm>
          <a:prstGeom prst="rect">
            <a:avLst/>
          </a:prstGeom>
          <a:solidFill>
            <a:srgbClr val="649BDC"/>
          </a:solidFill>
          <a:ln w="12700">
            <a:solidFill>
              <a:srgbClr val="649BDC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577486" y="3787445"/>
            <a:ext cx="138989" cy="138989"/>
          </a:xfrm>
          <a:prstGeom prst="rect">
            <a:avLst/>
          </a:prstGeom>
          <a:solidFill>
            <a:srgbClr val="679DDD"/>
          </a:solidFill>
          <a:ln w="12700">
            <a:solidFill>
              <a:srgbClr val="679DDD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734763" y="3787445"/>
            <a:ext cx="138989" cy="138989"/>
          </a:xfrm>
          <a:prstGeom prst="rect">
            <a:avLst/>
          </a:prstGeom>
          <a:solidFill>
            <a:srgbClr val="5A95DB"/>
          </a:solidFill>
          <a:ln w="12700">
            <a:solidFill>
              <a:srgbClr val="5A95DB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892040" y="3787445"/>
            <a:ext cx="138989" cy="138989"/>
          </a:xfrm>
          <a:prstGeom prst="rect">
            <a:avLst/>
          </a:prstGeom>
          <a:solidFill>
            <a:srgbClr val="669CDD"/>
          </a:solidFill>
          <a:ln w="12700">
            <a:solidFill>
              <a:srgbClr val="669CDD"/>
            </a:solidFill>
            <a:prstDash val="solid"/>
          </a:ln>
        </p:spPr>
      </p:sp>
      <p:sp>
        <p:nvSpPr>
          <p:cNvPr id="259" name="Text 257"/>
          <p:cNvSpPr txBox="1"/>
          <p:nvPr/>
        </p:nvSpPr>
        <p:spPr>
          <a:xfrm>
            <a:off x="457200" y="3926434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800" dirty="0"/>
          </a:p>
        </p:txBody>
      </p:sp>
      <p:sp>
        <p:nvSpPr>
          <p:cNvPr id="260" name="Shape 258"/>
          <p:cNvSpPr/>
          <p:nvPr/>
        </p:nvSpPr>
        <p:spPr>
          <a:xfrm>
            <a:off x="2847442" y="3944722"/>
            <a:ext cx="138989" cy="138989"/>
          </a:xfrm>
          <a:prstGeom prst="rect">
            <a:avLst/>
          </a:prstGeom>
          <a:solidFill>
            <a:srgbClr val="A1BFE3"/>
          </a:solidFill>
          <a:ln w="12700">
            <a:solidFill>
              <a:srgbClr val="A1BFE3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3004718" y="3944722"/>
            <a:ext cx="138989" cy="138989"/>
          </a:xfrm>
          <a:prstGeom prst="rect">
            <a:avLst/>
          </a:prstGeom>
          <a:solidFill>
            <a:srgbClr val="3A82D8"/>
          </a:solidFill>
          <a:ln w="12700">
            <a:solidFill>
              <a:srgbClr val="3A82D8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3161995" y="394472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3319272" y="394472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3476549" y="394472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3633826" y="394472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3791102" y="394472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3948379" y="394472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4105656" y="394472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262933" y="394472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420210" y="3944722"/>
            <a:ext cx="138989" cy="138989"/>
          </a:xfrm>
          <a:prstGeom prst="rect">
            <a:avLst/>
          </a:prstGeom>
          <a:solidFill>
            <a:srgbClr val="4E8EDA"/>
          </a:solidFill>
          <a:ln w="12700">
            <a:solidFill>
              <a:srgbClr val="4E8EDA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4577486" y="3944722"/>
            <a:ext cx="138989" cy="138989"/>
          </a:xfrm>
          <a:prstGeom prst="rect">
            <a:avLst/>
          </a:prstGeom>
          <a:solidFill>
            <a:srgbClr val="5391DB"/>
          </a:solidFill>
          <a:ln w="12700">
            <a:solidFill>
              <a:srgbClr val="5391DB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4734763" y="3944722"/>
            <a:ext cx="138989" cy="138989"/>
          </a:xfrm>
          <a:prstGeom prst="rect">
            <a:avLst/>
          </a:prstGeom>
          <a:solidFill>
            <a:srgbClr val="4789D9"/>
          </a:solidFill>
          <a:ln w="12700">
            <a:solidFill>
              <a:srgbClr val="4789D9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4892040" y="3944722"/>
            <a:ext cx="138989" cy="138989"/>
          </a:xfrm>
          <a:prstGeom prst="rect">
            <a:avLst/>
          </a:prstGeom>
          <a:solidFill>
            <a:srgbClr val="5692DB"/>
          </a:solidFill>
          <a:ln w="12700">
            <a:solidFill>
              <a:srgbClr val="5692DB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3004718" y="4101998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161995" y="4101998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319272" y="4101998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3476549" y="4101998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633826" y="4101998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791102" y="4101998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948379" y="4101998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4105656" y="4101998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262933" y="4101998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420210" y="4101998"/>
            <a:ext cx="138989" cy="138989"/>
          </a:xfrm>
          <a:prstGeom prst="rect">
            <a:avLst/>
          </a:prstGeom>
          <a:solidFill>
            <a:srgbClr val="488AD9"/>
          </a:solidFill>
          <a:ln w="12700">
            <a:solidFill>
              <a:srgbClr val="488AD9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577486" y="4101998"/>
            <a:ext cx="138989" cy="138989"/>
          </a:xfrm>
          <a:prstGeom prst="rect">
            <a:avLst/>
          </a:prstGeom>
          <a:solidFill>
            <a:srgbClr val="4F8EDA"/>
          </a:solidFill>
          <a:ln w="12700">
            <a:solidFill>
              <a:srgbClr val="4F8EDA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734763" y="4101998"/>
            <a:ext cx="138989" cy="138989"/>
          </a:xfrm>
          <a:prstGeom prst="rect">
            <a:avLst/>
          </a:prstGeom>
          <a:solidFill>
            <a:srgbClr val="4186D9"/>
          </a:solidFill>
          <a:ln w="12700">
            <a:solidFill>
              <a:srgbClr val="4186D9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4892040" y="4101998"/>
            <a:ext cx="138989" cy="138989"/>
          </a:xfrm>
          <a:prstGeom prst="rect">
            <a:avLst/>
          </a:prstGeom>
          <a:solidFill>
            <a:srgbClr val="5290DA"/>
          </a:solidFill>
          <a:ln w="12700">
            <a:solidFill>
              <a:srgbClr val="5290DA"/>
            </a:solidFill>
            <a:prstDash val="solid"/>
          </a:ln>
        </p:spPr>
      </p:sp>
      <p:sp>
        <p:nvSpPr>
          <p:cNvPr id="287" name="Text 285"/>
          <p:cNvSpPr txBox="1"/>
          <p:nvPr/>
        </p:nvSpPr>
        <p:spPr>
          <a:xfrm>
            <a:off x="457200" y="4240987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800" dirty="0"/>
          </a:p>
        </p:txBody>
      </p:sp>
      <p:sp>
        <p:nvSpPr>
          <p:cNvPr id="288" name="Shape 286"/>
          <p:cNvSpPr/>
          <p:nvPr/>
        </p:nvSpPr>
        <p:spPr>
          <a:xfrm>
            <a:off x="3161995" y="4259275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3319272" y="4259275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3476549" y="4259275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3633826" y="4259275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3791102" y="4259275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3948379" y="4259275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4105656" y="4259275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4262933" y="4259275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4420210" y="4259275"/>
            <a:ext cx="138989" cy="138989"/>
          </a:xfrm>
          <a:prstGeom prst="rect">
            <a:avLst/>
          </a:prstGeom>
          <a:solidFill>
            <a:srgbClr val="5994DB"/>
          </a:solidFill>
          <a:ln w="12700">
            <a:solidFill>
              <a:srgbClr val="5994DB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4577486" y="4259275"/>
            <a:ext cx="138989" cy="138989"/>
          </a:xfrm>
          <a:prstGeom prst="rect">
            <a:avLst/>
          </a:prstGeom>
          <a:solidFill>
            <a:srgbClr val="5E97DC"/>
          </a:solidFill>
          <a:ln w="12700">
            <a:solidFill>
              <a:srgbClr val="5E97DC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4734763" y="4259275"/>
            <a:ext cx="138989" cy="138989"/>
          </a:xfrm>
          <a:prstGeom prst="rect">
            <a:avLst/>
          </a:prstGeom>
          <a:solidFill>
            <a:srgbClr val="4E8EDA"/>
          </a:solidFill>
          <a:ln w="12700">
            <a:solidFill>
              <a:srgbClr val="4E8ED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4892040" y="4259275"/>
            <a:ext cx="138989" cy="138989"/>
          </a:xfrm>
          <a:prstGeom prst="rect">
            <a:avLst/>
          </a:prstGeom>
          <a:solidFill>
            <a:srgbClr val="5F98DC"/>
          </a:solidFill>
          <a:ln w="12700">
            <a:solidFill>
              <a:srgbClr val="5F98DC"/>
            </a:solidFill>
            <a:prstDash val="solid"/>
          </a:ln>
        </p:spPr>
      </p:sp>
      <p:sp>
        <p:nvSpPr>
          <p:cNvPr id="300" name="Text 298"/>
          <p:cNvSpPr txBox="1"/>
          <p:nvPr/>
        </p:nvSpPr>
        <p:spPr>
          <a:xfrm>
            <a:off x="3136392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800" dirty="0"/>
          </a:p>
        </p:txBody>
      </p:sp>
      <p:sp>
        <p:nvSpPr>
          <p:cNvPr id="301" name="Shape 299"/>
          <p:cNvSpPr/>
          <p:nvPr/>
        </p:nvSpPr>
        <p:spPr>
          <a:xfrm>
            <a:off x="3319272" y="441655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3476549" y="441655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3633826" y="441655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3791102" y="4416552"/>
            <a:ext cx="138989" cy="138989"/>
          </a:xfrm>
          <a:prstGeom prst="rect">
            <a:avLst/>
          </a:prstGeom>
          <a:solidFill>
            <a:srgbClr val="3E84D8"/>
          </a:solidFill>
          <a:ln w="12700">
            <a:solidFill>
              <a:srgbClr val="3E84D8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3948379" y="4416552"/>
            <a:ext cx="138989" cy="138989"/>
          </a:xfrm>
          <a:prstGeom prst="rect">
            <a:avLst/>
          </a:prstGeom>
          <a:solidFill>
            <a:srgbClr val="347ED7"/>
          </a:solidFill>
          <a:ln w="12700">
            <a:solidFill>
              <a:srgbClr val="347ED7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4105656" y="4416552"/>
            <a:ext cx="138989" cy="138989"/>
          </a:xfrm>
          <a:prstGeom prst="rect">
            <a:avLst/>
          </a:prstGeom>
          <a:solidFill>
            <a:srgbClr val="2D7AD6"/>
          </a:solidFill>
          <a:ln w="12700">
            <a:solidFill>
              <a:srgbClr val="2D7AD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4262933" y="4416552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4420210" y="4416552"/>
            <a:ext cx="138989" cy="138989"/>
          </a:xfrm>
          <a:prstGeom prst="rect">
            <a:avLst/>
          </a:prstGeom>
          <a:solidFill>
            <a:srgbClr val="6B9FDD"/>
          </a:solidFill>
          <a:ln w="12700">
            <a:solidFill>
              <a:srgbClr val="6B9FDD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4577486" y="4416552"/>
            <a:ext cx="138989" cy="138989"/>
          </a:xfrm>
          <a:prstGeom prst="rect">
            <a:avLst/>
          </a:prstGeom>
          <a:solidFill>
            <a:srgbClr val="6FA1DE"/>
          </a:solidFill>
          <a:ln w="12700">
            <a:solidFill>
              <a:srgbClr val="6FA1DE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4734763" y="4416552"/>
            <a:ext cx="138989" cy="138989"/>
          </a:xfrm>
          <a:prstGeom prst="rect">
            <a:avLst/>
          </a:prstGeom>
          <a:solidFill>
            <a:srgbClr val="5C96DC"/>
          </a:solidFill>
          <a:ln w="12700">
            <a:solidFill>
              <a:srgbClr val="5C96DC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4892040" y="4416552"/>
            <a:ext cx="138989" cy="138989"/>
          </a:xfrm>
          <a:prstGeom prst="rect">
            <a:avLst/>
          </a:prstGeom>
          <a:solidFill>
            <a:srgbClr val="6DA0DD"/>
          </a:solidFill>
          <a:ln w="12700">
            <a:solidFill>
              <a:srgbClr val="6DA0DD"/>
            </a:solidFill>
            <a:prstDash val="solid"/>
          </a:ln>
        </p:spPr>
      </p:sp>
      <p:sp>
        <p:nvSpPr>
          <p:cNvPr id="312" name="Text 310"/>
          <p:cNvSpPr txBox="1"/>
          <p:nvPr/>
        </p:nvSpPr>
        <p:spPr>
          <a:xfrm>
            <a:off x="457200" y="4555541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800" dirty="0"/>
          </a:p>
        </p:txBody>
      </p:sp>
      <p:sp>
        <p:nvSpPr>
          <p:cNvPr id="313" name="Shape 311"/>
          <p:cNvSpPr/>
          <p:nvPr/>
        </p:nvSpPr>
        <p:spPr>
          <a:xfrm>
            <a:off x="3476549" y="4573829"/>
            <a:ext cx="138989" cy="138989"/>
          </a:xfrm>
          <a:prstGeom prst="rect">
            <a:avLst/>
          </a:prstGeom>
          <a:solidFill>
            <a:srgbClr val="EFCEBE"/>
          </a:solidFill>
          <a:ln w="12700">
            <a:solidFill>
              <a:srgbClr val="EFCEBE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3633826" y="4573829"/>
            <a:ext cx="138989" cy="138989"/>
          </a:xfrm>
          <a:prstGeom prst="rect">
            <a:avLst/>
          </a:prstGeom>
          <a:solidFill>
            <a:srgbClr val="E6E9EB"/>
          </a:solidFill>
          <a:ln w="12700">
            <a:solidFill>
              <a:srgbClr val="E6E9EB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3791102" y="4573829"/>
            <a:ext cx="138989" cy="138989"/>
          </a:xfrm>
          <a:prstGeom prst="rect">
            <a:avLst/>
          </a:prstGeom>
          <a:solidFill>
            <a:srgbClr val="F0EDE9"/>
          </a:solidFill>
          <a:ln w="12700">
            <a:solidFill>
              <a:srgbClr val="F0EDE9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3948379" y="4573829"/>
            <a:ext cx="138989" cy="138989"/>
          </a:xfrm>
          <a:prstGeom prst="rect">
            <a:avLst/>
          </a:prstGeom>
          <a:solidFill>
            <a:srgbClr val="C0D2E7"/>
          </a:solidFill>
          <a:ln w="12700">
            <a:solidFill>
              <a:srgbClr val="C0D2E7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4105656" y="4573829"/>
            <a:ext cx="138989" cy="138989"/>
          </a:xfrm>
          <a:prstGeom prst="rect">
            <a:avLst/>
          </a:prstGeom>
          <a:solidFill>
            <a:srgbClr val="9FBEE3"/>
          </a:solidFill>
          <a:ln w="12700">
            <a:solidFill>
              <a:srgbClr val="9FBEE3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4262933" y="4573829"/>
            <a:ext cx="138989" cy="138989"/>
          </a:xfrm>
          <a:prstGeom prst="rect">
            <a:avLst/>
          </a:prstGeom>
          <a:solidFill>
            <a:srgbClr val="83AEE0"/>
          </a:solidFill>
          <a:ln w="12700">
            <a:solidFill>
              <a:srgbClr val="83AEE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4420210" y="4573829"/>
            <a:ext cx="138989" cy="138989"/>
          </a:xfrm>
          <a:prstGeom prst="rect">
            <a:avLst/>
          </a:prstGeom>
          <a:solidFill>
            <a:srgbClr val="C2D4E7"/>
          </a:solidFill>
          <a:ln w="12700">
            <a:solidFill>
              <a:srgbClr val="C2D4E7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4577486" y="4573829"/>
            <a:ext cx="138989" cy="138989"/>
          </a:xfrm>
          <a:prstGeom prst="rect">
            <a:avLst/>
          </a:prstGeom>
          <a:solidFill>
            <a:srgbClr val="BDD0E6"/>
          </a:solidFill>
          <a:ln w="12700">
            <a:solidFill>
              <a:srgbClr val="BDD0E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4734763" y="4573829"/>
            <a:ext cx="138989" cy="138989"/>
          </a:xfrm>
          <a:prstGeom prst="rect">
            <a:avLst/>
          </a:prstGeom>
          <a:solidFill>
            <a:srgbClr val="A1C0E3"/>
          </a:solidFill>
          <a:ln w="12700">
            <a:solidFill>
              <a:srgbClr val="A1C0E3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4892040" y="4573829"/>
            <a:ext cx="138989" cy="138989"/>
          </a:xfrm>
          <a:prstGeom prst="rect">
            <a:avLst/>
          </a:prstGeom>
          <a:solidFill>
            <a:srgbClr val="ACC6E4"/>
          </a:solidFill>
          <a:ln w="12700">
            <a:solidFill>
              <a:srgbClr val="ACC6E4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3633826" y="4731106"/>
            <a:ext cx="138989" cy="138989"/>
          </a:xfrm>
          <a:prstGeom prst="rect">
            <a:avLst/>
          </a:prstGeom>
          <a:solidFill>
            <a:srgbClr val="B0C9E5"/>
          </a:solidFill>
          <a:ln w="12700">
            <a:solidFill>
              <a:srgbClr val="B0C9E5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3791102" y="4731106"/>
            <a:ext cx="138989" cy="138989"/>
          </a:xfrm>
          <a:prstGeom prst="rect">
            <a:avLst/>
          </a:prstGeom>
          <a:solidFill>
            <a:srgbClr val="E0E6EA"/>
          </a:solidFill>
          <a:ln w="12700">
            <a:solidFill>
              <a:srgbClr val="E0E6EA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3948379" y="4731106"/>
            <a:ext cx="138989" cy="138989"/>
          </a:xfrm>
          <a:prstGeom prst="rect">
            <a:avLst/>
          </a:prstGeom>
          <a:solidFill>
            <a:srgbClr val="A2C0E3"/>
          </a:solidFill>
          <a:ln w="12700">
            <a:solidFill>
              <a:srgbClr val="A2C0E3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4105656" y="4731106"/>
            <a:ext cx="138989" cy="138989"/>
          </a:xfrm>
          <a:prstGeom prst="rect">
            <a:avLst/>
          </a:prstGeom>
          <a:solidFill>
            <a:srgbClr val="80ACE0"/>
          </a:solidFill>
          <a:ln w="12700">
            <a:solidFill>
              <a:srgbClr val="80ACE0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4262933" y="4731106"/>
            <a:ext cx="138989" cy="138989"/>
          </a:xfrm>
          <a:prstGeom prst="rect">
            <a:avLst/>
          </a:prstGeom>
          <a:solidFill>
            <a:srgbClr val="649BDC"/>
          </a:solidFill>
          <a:ln w="12700">
            <a:solidFill>
              <a:srgbClr val="649BDC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4420210" y="4731106"/>
            <a:ext cx="138989" cy="138989"/>
          </a:xfrm>
          <a:prstGeom prst="rect">
            <a:avLst/>
          </a:prstGeom>
          <a:solidFill>
            <a:srgbClr val="B4CBE5"/>
          </a:solidFill>
          <a:ln w="12700">
            <a:solidFill>
              <a:srgbClr val="B4CBE5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4577486" y="4731106"/>
            <a:ext cx="138989" cy="138989"/>
          </a:xfrm>
          <a:prstGeom prst="rect">
            <a:avLst/>
          </a:prstGeom>
          <a:solidFill>
            <a:srgbClr val="B0C8E5"/>
          </a:solidFill>
          <a:ln w="12700">
            <a:solidFill>
              <a:srgbClr val="B0C8E5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4734763" y="4731106"/>
            <a:ext cx="138989" cy="138989"/>
          </a:xfrm>
          <a:prstGeom prst="rect">
            <a:avLst/>
          </a:prstGeom>
          <a:solidFill>
            <a:srgbClr val="92B7E2"/>
          </a:solidFill>
          <a:ln w="12700">
            <a:solidFill>
              <a:srgbClr val="92B7E2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4892040" y="4731106"/>
            <a:ext cx="138989" cy="138989"/>
          </a:xfrm>
          <a:prstGeom prst="rect">
            <a:avLst/>
          </a:prstGeom>
          <a:solidFill>
            <a:srgbClr val="A0BFE3"/>
          </a:solidFill>
          <a:ln w="12700">
            <a:solidFill>
              <a:srgbClr val="A0BFE3"/>
            </a:solidFill>
            <a:prstDash val="solid"/>
          </a:ln>
        </p:spPr>
      </p:sp>
      <p:sp>
        <p:nvSpPr>
          <p:cNvPr id="332" name="Text 330"/>
          <p:cNvSpPr txBox="1"/>
          <p:nvPr/>
        </p:nvSpPr>
        <p:spPr>
          <a:xfrm>
            <a:off x="457200" y="4870094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800" dirty="0"/>
          </a:p>
        </p:txBody>
      </p:sp>
      <p:sp>
        <p:nvSpPr>
          <p:cNvPr id="333" name="Shape 331"/>
          <p:cNvSpPr/>
          <p:nvPr/>
        </p:nvSpPr>
        <p:spPr>
          <a:xfrm>
            <a:off x="3791102" y="4888382"/>
            <a:ext cx="138989" cy="138989"/>
          </a:xfrm>
          <a:prstGeom prst="rect">
            <a:avLst/>
          </a:prstGeom>
          <a:solidFill>
            <a:srgbClr val="EFD4C8"/>
          </a:solidFill>
          <a:ln w="12700">
            <a:solidFill>
              <a:srgbClr val="EFD4C8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3948379" y="4888382"/>
            <a:ext cx="138989" cy="138989"/>
          </a:xfrm>
          <a:prstGeom prst="rect">
            <a:avLst/>
          </a:prstGeom>
          <a:solidFill>
            <a:srgbClr val="A2C0E3"/>
          </a:solidFill>
          <a:ln w="12700">
            <a:solidFill>
              <a:srgbClr val="A2C0E3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4105656" y="4888382"/>
            <a:ext cx="138989" cy="138989"/>
          </a:xfrm>
          <a:prstGeom prst="rect">
            <a:avLst/>
          </a:prstGeom>
          <a:solidFill>
            <a:srgbClr val="75A5DE"/>
          </a:solidFill>
          <a:ln w="12700">
            <a:solidFill>
              <a:srgbClr val="75A5DE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4262933" y="4888382"/>
            <a:ext cx="138989" cy="138989"/>
          </a:xfrm>
          <a:prstGeom prst="rect">
            <a:avLst/>
          </a:prstGeom>
          <a:solidFill>
            <a:srgbClr val="5693DB"/>
          </a:solidFill>
          <a:ln w="12700">
            <a:solidFill>
              <a:srgbClr val="5693DB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4420210" y="4888382"/>
            <a:ext cx="138989" cy="138989"/>
          </a:xfrm>
          <a:prstGeom prst="rect">
            <a:avLst/>
          </a:prstGeom>
          <a:solidFill>
            <a:srgbClr val="B9CEE6"/>
          </a:solidFill>
          <a:ln w="12700">
            <a:solidFill>
              <a:srgbClr val="B9CEE6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4577486" y="4888382"/>
            <a:ext cx="138989" cy="138989"/>
          </a:xfrm>
          <a:prstGeom prst="rect">
            <a:avLst/>
          </a:prstGeom>
          <a:solidFill>
            <a:srgbClr val="B3CAE5"/>
          </a:solidFill>
          <a:ln w="12700">
            <a:solidFill>
              <a:srgbClr val="B3CAE5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4734763" y="4888382"/>
            <a:ext cx="138989" cy="138989"/>
          </a:xfrm>
          <a:prstGeom prst="rect">
            <a:avLst/>
          </a:prstGeom>
          <a:solidFill>
            <a:srgbClr val="91B6E1"/>
          </a:solidFill>
          <a:ln w="12700">
            <a:solidFill>
              <a:srgbClr val="91B6E1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4892040" y="4888382"/>
            <a:ext cx="138989" cy="138989"/>
          </a:xfrm>
          <a:prstGeom prst="rect">
            <a:avLst/>
          </a:prstGeom>
          <a:solidFill>
            <a:srgbClr val="A1C0E3"/>
          </a:solidFill>
          <a:ln w="12700">
            <a:solidFill>
              <a:srgbClr val="A1C0E3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3948379" y="5045659"/>
            <a:ext cx="138989" cy="138989"/>
          </a:xfrm>
          <a:prstGeom prst="rect">
            <a:avLst/>
          </a:prstGeom>
          <a:solidFill>
            <a:srgbClr val="2C79D6"/>
          </a:solidFill>
          <a:ln w="12700">
            <a:solidFill>
              <a:srgbClr val="2C79D6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4105656" y="5045659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4262933" y="5045659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4420210" y="5045659"/>
            <a:ext cx="138989" cy="138989"/>
          </a:xfrm>
          <a:prstGeom prst="rect">
            <a:avLst/>
          </a:prstGeom>
          <a:solidFill>
            <a:srgbClr val="A3C1E3"/>
          </a:solidFill>
          <a:ln w="12700">
            <a:solidFill>
              <a:srgbClr val="A3C1E3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4577486" y="5045659"/>
            <a:ext cx="138989" cy="138989"/>
          </a:xfrm>
          <a:prstGeom prst="rect">
            <a:avLst/>
          </a:prstGeom>
          <a:solidFill>
            <a:srgbClr val="A1BFE3"/>
          </a:solidFill>
          <a:ln w="12700">
            <a:solidFill>
              <a:srgbClr val="A1BFE3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4734763" y="5045659"/>
            <a:ext cx="138989" cy="138989"/>
          </a:xfrm>
          <a:prstGeom prst="rect">
            <a:avLst/>
          </a:prstGeom>
          <a:solidFill>
            <a:srgbClr val="7CA9DF"/>
          </a:solidFill>
          <a:ln w="12700">
            <a:solidFill>
              <a:srgbClr val="7CA9DF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4892040" y="5045659"/>
            <a:ext cx="138989" cy="138989"/>
          </a:xfrm>
          <a:prstGeom prst="rect">
            <a:avLst/>
          </a:prstGeom>
          <a:solidFill>
            <a:srgbClr val="92B6E2"/>
          </a:solidFill>
          <a:ln w="12700">
            <a:solidFill>
              <a:srgbClr val="92B6E2"/>
            </a:solidFill>
            <a:prstDash val="solid"/>
          </a:ln>
        </p:spPr>
      </p:sp>
      <p:sp>
        <p:nvSpPr>
          <p:cNvPr id="348" name="Text 346"/>
          <p:cNvSpPr txBox="1"/>
          <p:nvPr/>
        </p:nvSpPr>
        <p:spPr>
          <a:xfrm>
            <a:off x="457200" y="5184648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</p:txBody>
      </p:sp>
      <p:sp>
        <p:nvSpPr>
          <p:cNvPr id="349" name="Text 347"/>
          <p:cNvSpPr txBox="1"/>
          <p:nvPr/>
        </p:nvSpPr>
        <p:spPr>
          <a:xfrm>
            <a:off x="3922776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</p:txBody>
      </p:sp>
      <p:sp>
        <p:nvSpPr>
          <p:cNvPr id="350" name="Shape 348"/>
          <p:cNvSpPr/>
          <p:nvPr/>
        </p:nvSpPr>
        <p:spPr>
          <a:xfrm>
            <a:off x="4105656" y="5202936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4262933" y="5202936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4420210" y="5202936"/>
            <a:ext cx="138989" cy="138989"/>
          </a:xfrm>
          <a:prstGeom prst="rect">
            <a:avLst/>
          </a:prstGeom>
          <a:solidFill>
            <a:srgbClr val="CEDBE8"/>
          </a:solidFill>
          <a:ln w="12700">
            <a:solidFill>
              <a:srgbClr val="CEDBE8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4577486" y="5202936"/>
            <a:ext cx="138989" cy="138989"/>
          </a:xfrm>
          <a:prstGeom prst="rect">
            <a:avLst/>
          </a:prstGeom>
          <a:solidFill>
            <a:srgbClr val="C2D3E7"/>
          </a:solidFill>
          <a:ln w="12700">
            <a:solidFill>
              <a:srgbClr val="C2D3E7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4734763" y="5202936"/>
            <a:ext cx="138989" cy="138989"/>
          </a:xfrm>
          <a:prstGeom prst="rect">
            <a:avLst/>
          </a:prstGeom>
          <a:solidFill>
            <a:srgbClr val="91B6E1"/>
          </a:solidFill>
          <a:ln w="12700">
            <a:solidFill>
              <a:srgbClr val="91B6E1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4892040" y="5202936"/>
            <a:ext cx="138989" cy="138989"/>
          </a:xfrm>
          <a:prstGeom prst="rect">
            <a:avLst/>
          </a:prstGeom>
          <a:solidFill>
            <a:srgbClr val="A7C3E4"/>
          </a:solidFill>
          <a:ln w="12700">
            <a:solidFill>
              <a:srgbClr val="A7C3E4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4262933" y="5360213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4420210" y="5360213"/>
            <a:ext cx="138989" cy="138989"/>
          </a:xfrm>
          <a:prstGeom prst="rect">
            <a:avLst/>
          </a:prstGeom>
          <a:solidFill>
            <a:srgbClr val="EFCFC1"/>
          </a:solidFill>
          <a:ln w="12700">
            <a:solidFill>
              <a:srgbClr val="EFCFC1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4577486" y="5360213"/>
            <a:ext cx="138989" cy="138989"/>
          </a:xfrm>
          <a:prstGeom prst="rect">
            <a:avLst/>
          </a:prstGeom>
          <a:solidFill>
            <a:srgbClr val="F0EBE6"/>
          </a:solidFill>
          <a:ln w="12700">
            <a:solidFill>
              <a:srgbClr val="F0EBE6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4734763" y="5360213"/>
            <a:ext cx="138989" cy="138989"/>
          </a:xfrm>
          <a:prstGeom prst="rect">
            <a:avLst/>
          </a:prstGeom>
          <a:solidFill>
            <a:srgbClr val="B0C8E5"/>
          </a:solidFill>
          <a:ln w="12700">
            <a:solidFill>
              <a:srgbClr val="B0C8E5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4892040" y="5360213"/>
            <a:ext cx="138989" cy="138989"/>
          </a:xfrm>
          <a:prstGeom prst="rect">
            <a:avLst/>
          </a:prstGeom>
          <a:solidFill>
            <a:srgbClr val="C4D4E7"/>
          </a:solidFill>
          <a:ln w="12700">
            <a:solidFill>
              <a:srgbClr val="C4D4E7"/>
            </a:solidFill>
            <a:prstDash val="solid"/>
          </a:ln>
        </p:spPr>
      </p:sp>
      <p:sp>
        <p:nvSpPr>
          <p:cNvPr id="361" name="Text 359"/>
          <p:cNvSpPr txBox="1"/>
          <p:nvPr/>
        </p:nvSpPr>
        <p:spPr>
          <a:xfrm>
            <a:off x="457200" y="5499202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00" dirty="0"/>
          </a:p>
        </p:txBody>
      </p:sp>
      <p:sp>
        <p:nvSpPr>
          <p:cNvPr id="362" name="Shape 360"/>
          <p:cNvSpPr/>
          <p:nvPr/>
        </p:nvSpPr>
        <p:spPr>
          <a:xfrm>
            <a:off x="4420210" y="5517490"/>
            <a:ext cx="138989" cy="138989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4577486" y="5517490"/>
            <a:ext cx="138989" cy="138989"/>
          </a:xfrm>
          <a:prstGeom prst="rect">
            <a:avLst/>
          </a:prstGeom>
          <a:solidFill>
            <a:srgbClr val="EDA283"/>
          </a:solidFill>
          <a:ln w="12700">
            <a:solidFill>
              <a:srgbClr val="EDA283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4734763" y="5517490"/>
            <a:ext cx="138989" cy="138989"/>
          </a:xfrm>
          <a:prstGeom prst="rect">
            <a:avLst/>
          </a:prstGeom>
          <a:solidFill>
            <a:srgbClr val="E8EAEB"/>
          </a:solidFill>
          <a:ln w="12700">
            <a:solidFill>
              <a:srgbClr val="E8EAEB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4892040" y="5517490"/>
            <a:ext cx="138989" cy="138989"/>
          </a:xfrm>
          <a:prstGeom prst="rect">
            <a:avLst/>
          </a:prstGeom>
          <a:solidFill>
            <a:srgbClr val="F0EDEA"/>
          </a:solidFill>
          <a:ln w="12700">
            <a:solidFill>
              <a:srgbClr val="F0EDEA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4577486" y="5674766"/>
            <a:ext cx="138989" cy="138989"/>
          </a:xfrm>
          <a:prstGeom prst="rect">
            <a:avLst/>
          </a:prstGeom>
          <a:solidFill>
            <a:srgbClr val="ABC5E4"/>
          </a:solidFill>
          <a:ln w="12700">
            <a:solidFill>
              <a:srgbClr val="ABC5E4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4734763" y="5674766"/>
            <a:ext cx="138989" cy="138989"/>
          </a:xfrm>
          <a:prstGeom prst="rect">
            <a:avLst/>
          </a:prstGeom>
          <a:solidFill>
            <a:srgbClr val="3F84D8"/>
          </a:solidFill>
          <a:ln w="12700">
            <a:solidFill>
              <a:srgbClr val="3F84D8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4892040" y="5674766"/>
            <a:ext cx="138989" cy="138989"/>
          </a:xfrm>
          <a:prstGeom prst="rect">
            <a:avLst/>
          </a:prstGeom>
          <a:solidFill>
            <a:srgbClr val="88B1E0"/>
          </a:solidFill>
          <a:ln w="12700">
            <a:solidFill>
              <a:srgbClr val="88B1E0"/>
            </a:solidFill>
            <a:prstDash val="solid"/>
          </a:ln>
        </p:spPr>
      </p:sp>
      <p:sp>
        <p:nvSpPr>
          <p:cNvPr id="369" name="Text 367"/>
          <p:cNvSpPr txBox="1"/>
          <p:nvPr/>
        </p:nvSpPr>
        <p:spPr>
          <a:xfrm>
            <a:off x="457200" y="5813755"/>
            <a:ext cx="457200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370" name="Shape 368"/>
          <p:cNvSpPr/>
          <p:nvPr/>
        </p:nvSpPr>
        <p:spPr>
          <a:xfrm>
            <a:off x="4734763" y="5832043"/>
            <a:ext cx="138989" cy="138989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4892040" y="5832043"/>
            <a:ext cx="138989" cy="138989"/>
          </a:xfrm>
          <a:prstGeom prst="rect">
            <a:avLst/>
          </a:prstGeom>
          <a:solidFill>
            <a:srgbClr val="7FABDF"/>
          </a:solidFill>
          <a:ln w="12700">
            <a:solidFill>
              <a:srgbClr val="7FABDF"/>
            </a:solidFill>
            <a:prstDash val="solid"/>
          </a:ln>
        </p:spPr>
      </p:sp>
      <p:sp>
        <p:nvSpPr>
          <p:cNvPr id="372" name="Text 370"/>
          <p:cNvSpPr txBox="1"/>
          <p:nvPr/>
        </p:nvSpPr>
        <p:spPr>
          <a:xfrm>
            <a:off x="470916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373" name="Shape 371"/>
          <p:cNvSpPr/>
          <p:nvPr/>
        </p:nvSpPr>
        <p:spPr>
          <a:xfrm>
            <a:off x="4892040" y="5989320"/>
            <a:ext cx="138989" cy="138989"/>
          </a:xfrm>
          <a:prstGeom prst="rect">
            <a:avLst/>
          </a:prstGeom>
          <a:solidFill>
            <a:srgbClr val="EFD0C2"/>
          </a:solidFill>
          <a:ln w="12700">
            <a:solidFill>
              <a:srgbClr val="EFD0C2"/>
            </a:solidFill>
            <a:prstDash val="solid"/>
          </a:ln>
        </p:spPr>
      </p:sp>
      <p:sp>
        <p:nvSpPr>
          <p:cNvPr id="374" name="Text 372"/>
          <p:cNvSpPr txBox="1"/>
          <p:nvPr/>
        </p:nvSpPr>
        <p:spPr>
          <a:xfrm>
            <a:off x="457200" y="1527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— год входа, столбец — год выхода</a:t>
            </a:r>
            <a:endParaRPr lang="en-US" sz="900" dirty="0"/>
          </a:p>
        </p:txBody>
      </p:sp>
      <p:sp>
        <p:nvSpPr>
          <p:cNvPr id="375" name="Shape 373"/>
          <p:cNvSpPr/>
          <p:nvPr/>
        </p:nvSpPr>
        <p:spPr>
          <a:xfrm>
            <a:off x="6035040" y="189280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76" name="Text 374"/>
          <p:cNvSpPr txBox="1"/>
          <p:nvPr/>
        </p:nvSpPr>
        <p:spPr>
          <a:xfrm>
            <a:off x="6254496" y="1828800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впереди</a:t>
            </a:r>
            <a:endParaRPr lang="en-US" sz="1200" dirty="0"/>
          </a:p>
        </p:txBody>
      </p:sp>
      <p:sp>
        <p:nvSpPr>
          <p:cNvPr id="377" name="Shape 375"/>
          <p:cNvSpPr/>
          <p:nvPr/>
        </p:nvSpPr>
        <p:spPr>
          <a:xfrm>
            <a:off x="7923276" y="189280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78" name="Text 376"/>
          <p:cNvSpPr txBox="1"/>
          <p:nvPr/>
        </p:nvSpPr>
        <p:spPr>
          <a:xfrm>
            <a:off x="8142732" y="1828800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впереди</a:t>
            </a:r>
            <a:endParaRPr lang="en-US" sz="1200" dirty="0"/>
          </a:p>
        </p:txBody>
      </p:sp>
      <p:sp>
        <p:nvSpPr>
          <p:cNvPr id="379" name="Text 377"/>
          <p:cNvSpPr txBox="1"/>
          <p:nvPr/>
        </p:nvSpPr>
        <p:spPr>
          <a:xfrm>
            <a:off x="6035040" y="21945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— среднегодовое превышение S&amp;P 500 (нетто) над депозитом, шкала ±15 п.п.</a:t>
            </a:r>
            <a:endParaRPr lang="en-US" sz="1200" dirty="0"/>
          </a:p>
        </p:txBody>
      </p:sp>
      <p:sp>
        <p:nvSpPr>
          <p:cNvPr id="380" name="Shape 378"/>
          <p:cNvSpPr/>
          <p:nvPr/>
        </p:nvSpPr>
        <p:spPr>
          <a:xfrm>
            <a:off x="6035040" y="2834640"/>
            <a:ext cx="5605272" cy="969264"/>
          </a:xfrm>
          <a:prstGeom prst="roundRect">
            <a:avLst>
              <a:gd name="adj" fmla="val 11321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381" name="Text 379"/>
          <p:cNvSpPr txBox="1"/>
          <p:nvPr/>
        </p:nvSpPr>
        <p:spPr>
          <a:xfrm>
            <a:off x="6263640" y="2962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→ 2019</a:t>
            </a:r>
            <a:endParaRPr lang="en-US" sz="1500" dirty="0"/>
          </a:p>
        </p:txBody>
      </p:sp>
      <p:sp>
        <p:nvSpPr>
          <p:cNvPr id="382" name="Text 380"/>
          <p:cNvSpPr txBox="1"/>
          <p:nvPr/>
        </p:nvSpPr>
        <p:spPr>
          <a:xfrm>
            <a:off x="626364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−0,2% в год</a:t>
            </a:r>
            <a:endParaRPr lang="en-US" sz="1500" dirty="0"/>
          </a:p>
        </p:txBody>
      </p:sp>
      <p:sp>
        <p:nvSpPr>
          <p:cNvPr id="383" name="Text 381"/>
          <p:cNvSpPr txBox="1"/>
          <p:nvPr/>
        </p:nvSpPr>
        <p:spPr>
          <a:xfrm>
            <a:off x="8366760" y="292608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на пике доткомов проигрывал депозиту при любом выходе 20 лет</a:t>
            </a:r>
            <a:endParaRPr lang="en-US" sz="1300" dirty="0"/>
          </a:p>
        </p:txBody>
      </p:sp>
      <p:sp>
        <p:nvSpPr>
          <p:cNvPr id="384" name="Shape 382"/>
          <p:cNvSpPr/>
          <p:nvPr/>
        </p:nvSpPr>
        <p:spPr>
          <a:xfrm>
            <a:off x="6035040" y="3950208"/>
            <a:ext cx="5605272" cy="969264"/>
          </a:xfrm>
          <a:prstGeom prst="roundRect">
            <a:avLst>
              <a:gd name="adj" fmla="val 11321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385" name="Text 383"/>
          <p:cNvSpPr txBox="1"/>
          <p:nvPr/>
        </p:nvSpPr>
        <p:spPr>
          <a:xfrm>
            <a:off x="6263640" y="4078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 → 2025</a:t>
            </a:r>
            <a:endParaRPr lang="en-US" sz="1500" dirty="0"/>
          </a:p>
        </p:txBody>
      </p:sp>
      <p:sp>
        <p:nvSpPr>
          <p:cNvPr id="386" name="Text 384"/>
          <p:cNvSpPr txBox="1"/>
          <p:nvPr/>
        </p:nvSpPr>
        <p:spPr>
          <a:xfrm>
            <a:off x="6263640" y="4453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+7,4% в год</a:t>
            </a:r>
            <a:endParaRPr lang="en-US" sz="1500" dirty="0"/>
          </a:p>
        </p:txBody>
      </p:sp>
      <p:sp>
        <p:nvSpPr>
          <p:cNvPr id="387" name="Text 385"/>
          <p:cNvSpPr txBox="1"/>
          <p:nvPr/>
        </p:nvSpPr>
        <p:spPr>
          <a:xfrm>
            <a:off x="8366760" y="404164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перед кризисом отставал до 2013 года, но к 2025-му выиграл</a:t>
            </a:r>
            <a:endParaRPr lang="en-US" sz="1300" dirty="0"/>
          </a:p>
        </p:txBody>
      </p:sp>
      <p:sp>
        <p:nvSpPr>
          <p:cNvPr id="388" name="Shape 386"/>
          <p:cNvSpPr/>
          <p:nvPr/>
        </p:nvSpPr>
        <p:spPr>
          <a:xfrm>
            <a:off x="6035040" y="5065776"/>
            <a:ext cx="5605272" cy="969264"/>
          </a:xfrm>
          <a:prstGeom prst="roundRect">
            <a:avLst>
              <a:gd name="adj" fmla="val 11321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389" name="Text 387"/>
          <p:cNvSpPr txBox="1"/>
          <p:nvPr/>
        </p:nvSpPr>
        <p:spPr>
          <a:xfrm>
            <a:off x="6263640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 → 2025</a:t>
            </a:r>
            <a:endParaRPr lang="en-US" sz="1500" dirty="0"/>
          </a:p>
        </p:txBody>
      </p:sp>
      <p:sp>
        <p:nvSpPr>
          <p:cNvPr id="390" name="Text 388"/>
          <p:cNvSpPr txBox="1"/>
          <p:nvPr/>
        </p:nvSpPr>
        <p:spPr>
          <a:xfrm>
            <a:off x="6263640" y="5568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+11,6% в год</a:t>
            </a:r>
            <a:endParaRPr lang="en-US" sz="1500" dirty="0"/>
          </a:p>
        </p:txBody>
      </p:sp>
      <p:sp>
        <p:nvSpPr>
          <p:cNvPr id="391" name="Text 389"/>
          <p:cNvSpPr txBox="1"/>
          <p:nvPr/>
        </p:nvSpPr>
        <p:spPr>
          <a:xfrm>
            <a:off x="8366760" y="515721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после обвала — лучшие результаты периода</a:t>
            </a:r>
            <a:endParaRPr lang="en-US" sz="1300" dirty="0"/>
          </a:p>
        </p:txBody>
      </p:sp>
      <p:sp>
        <p:nvSpPr>
          <p:cNvPr id="392" name="Text 390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клетка: покупка в начале года входа, продажа в конце года выхода, с учётом налогов и комиссий.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МЕХАНИЗМ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Двигатель победы — курс, а не рынок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45920"/>
            <a:ext cx="2107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KZT − ставка USD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58668" y="1709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78124" y="1645920"/>
            <a:ext cx="2107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курса USD/KZT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965960"/>
          <a:ext cx="76809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321040" y="1691640"/>
            <a:ext cx="3319272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49640" y="185623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24231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в долларах в год — ниже ставки депозита в тенге (11,3%)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321040" y="3063240"/>
            <a:ext cx="3319272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49640" y="322783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из 26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37947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 надбавка по ставке тенге перекрывала ослабление курса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321040" y="4434840"/>
            <a:ext cx="3319272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49640" y="459943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−2,8 п.п.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8549640" y="51663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отставание S&amp;P 500 от депозита в год, если убрать 2009, 2014 и 2015 годы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Карри-трейд: банки платили по тенге в среднем на 6,6 п.п. больше, чем по валюте. Корреляция месячных доходностей S&amp;P 500 и USD/KZT: −0,23 (курс смягчает кризисы).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ЦЕНА ПРЕИМУЩЕСТВА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+1,2 п.п. в год оплачены просадкой до −48%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044952"/>
                <a:gridCol w="1463040"/>
                <a:gridCol w="1463040"/>
                <a:gridCol w="164592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Стратегия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год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Волатильность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Макс. просадка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Худшие 12 мес.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Депозит в тенге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Депозит в USD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−15,5%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−13,0%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(брутто)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−46,2%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−38,4%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(нетто)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−47,8%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−38,6%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депозит + 50% S&amp;P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−8,1%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6344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Депозит в тенге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1937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одного убыточного месяца за 26 лет. Худшие 12 месяцев: +7,5%.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466344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 500 в тенге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51937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 2008: −38% в тенге при −50% в долларах — девальвация 2009 года смягчила удар.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466344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Портфель 50/50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51937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12,0% в год при просадке всего −8%: большая часть премии при малой доле риска.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 — за вычетом инфляции в Казахстане. Волатильность — годовое стандартное отклонение месячных доходностей в тенге.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КАК КОПЯТ РЕАЛЬНЫЕ ЛЮДИ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 ₸ каждый месяц: регулярность снижает риск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млн 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внесено за 320 месяцев (2000–2026)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7830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9476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 млн ₸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накоплено на депозите в тенге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7830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1896" y="19476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491 млн ₸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311896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накоплено в S&amp;P 500 после налогов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окон, где регулярные взносы в S&amp;P 500 дали больше депозита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3657600"/>
          <a:ext cx="65836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223760" y="3337560"/>
            <a:ext cx="4416552" cy="2880360"/>
          </a:xfrm>
          <a:prstGeom prst="roundRect">
            <a:avLst>
              <a:gd name="adj" fmla="val 3810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52360" y="3520440"/>
            <a:ext cx="3977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взносы размазывают вход по времени, и неудачный старт (2000, 2008) перекрывается дешёвыми покупками после обвалов.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горизонте 15 лет S&amp;P 500 выиграл во всех 141 окне;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медианный результат — в 2,4 раза больше депозита.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Взнос в начале каждого месяца; для S&amp;P 500 — налоги и комиссии, 10% ИПН с прироста при продаже в конце окна.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ВЗГЛЯД ВПЕРЁД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Вперёд: шансы скромнее, а порог сегодня высокий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Бутстреп: вероятность обогнать депозит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28600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0574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6B6EF"/>
          </a:solidFill>
          <a:ln w="12700">
            <a:solidFill>
              <a:srgbClr val="86B6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" y="1993392"/>
            <a:ext cx="1641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исторические окна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92324" y="20574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11780" y="1993392"/>
            <a:ext cx="2418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бутстреп, 10 000 траекторий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ослабление тенге в год нужно для паритета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533095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886968"/>
                <a:gridCol w="886968"/>
                <a:gridCol w="886968"/>
                <a:gridCol w="88696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Депозит \ S&amp;P в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7A85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14,7% (сейчас)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0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B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309360" y="4572000"/>
            <a:ext cx="5330952" cy="1691640"/>
          </a:xfrm>
          <a:prstGeom prst="roundRect">
            <a:avLst>
              <a:gd name="adj" fmla="val 6486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37960" y="470916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ставка 14,7%. </a:t>
            </a:r>
            <a:pPr indent="0" marL="0">
              <a:buNone/>
            </a:pPr>
            <a:r>
              <a:rPr lang="en-US" sz="140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S&amp;P 500 даст 8% в долларах, тенге должен слабеть на 7,5% в год, чтобы акции лишь догнали депозит. При ставке 10% порог — всего 2,6%.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Бутстреп: случайные 24-месячные блоки совместной истории S&amp;P 500, курса и ставок. Паритет учитывает налог на дивиденды и комиссии (≈0,35% в год).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B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ВЫВОДЫ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Обгоняет — но не стабильно, а на длинной дистанции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C2826"/>
          </a:solidFill>
          <a:ln w="12700">
            <a:solidFill>
              <a:srgbClr val="1C28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весь период — да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12,5% против 11,3% в год после налогов: 23,3 млн ₸ против 17,5 млн ₸ из 1 млн.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C2826"/>
          </a:solidFill>
          <a:ln w="12700">
            <a:solidFill>
              <a:srgbClr val="1C28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5 лет — лотерея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впереди лишь в 52%–60% случаев. Для коротких целей депозит надёжнее.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C2826"/>
          </a:solidFill>
          <a:ln w="12700">
            <a:solidFill>
              <a:srgbClr val="1C28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лет — почти всегда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90%–93% исторических окон; при регулярных взносах — 100% уже на 15 лет.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C2826"/>
          </a:solidFill>
          <a:ln w="12700">
            <a:solidFill>
              <a:srgbClr val="1C28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 курс тенге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Преимущество создали девальвации 2009, 2014, 2015. Без них депозит был бы впереди.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C2826"/>
          </a:solidFill>
          <a:ln w="12700">
            <a:solidFill>
              <a:srgbClr val="1C28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порог высокий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ставке 14,7% акциям нужна девальвация ≈7,5% в год, чтобы только сравняться.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C2826"/>
          </a:solidFill>
          <a:ln w="12700">
            <a:solidFill>
              <a:srgbClr val="1C28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 «и», чем «или»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— подушка и короткие цели, S&amp;P 500 — цели от 15 лет. Портфель 50/50: 12,0% в год, просадка −8%.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9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Учебное исследование, не является индивидуальной инвестиционной рекомендацией. Прошлая доходность не гарантирует будущую.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ОГРАНИЧЕНИЯ И ИСТОЧНИКИ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стоит помнить, читая эти цифры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669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Средневзвешенная ставка ≠ лучшая ставка конкретного банка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Перекрывающиеся окна не независимы: 81 двадцатилетнее окно — это не 81 эксперимент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выжившего: США — самый успешный рынок столетия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2026 года действует новый Налоговый кодекс РК; модель налогов упрощена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учтено поведение: продажа в панике фиксирует убыток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Депозиты гарантирует КФГД в пределах лимитов, акции — нет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0" y="1737360"/>
            <a:ext cx="5056632" cy="4480560"/>
          </a:xfrm>
          <a:prstGeom prst="roundRect">
            <a:avLst>
              <a:gd name="adj" fmla="val 2449"/>
            </a:avLst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12280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данных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33172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— S&amp;P 500 Total Return (^SP500TR), S&amp;P 500 (^GSPC), SPY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Национальный Банк РК — Официальный курс USD/KZT на конец месяца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Национальный Банк РК — Средневзвешенные ставки по срочным депозитам физлиц (KZT и ин. валюта)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International Financial Statistics (DBnomics) — Индекс потребительских цен Казахстана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Бюро национальной статистики АСПиР РК — Годовая инфляция (продление ИПЦ)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WDI FP.CPI.TOTL.ZG — Инфляция (среднегодовая, сверка)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53949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датасет и таблицы: analysis/, data/research_data.xlsx, сайт site/index.html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Может ли S&amp;P 500 стабильно обгонять депозит в тенге?</dc:title>
  <dc:subject>PptxGenJS Presentation</dc:subject>
  <dc:creator>PptxGenJS</dc:creator>
  <cp:lastModifiedBy>PptxGenJS</cp:lastModifiedBy>
  <cp:revision>1</cp:revision>
  <dcterms:created xsi:type="dcterms:W3CDTF">2026-09-14T17:33:15Z</dcterms:created>
  <dcterms:modified xsi:type="dcterms:W3CDTF">2026-09-14T17:33:15Z</dcterms:modified>
</cp:coreProperties>
</file>